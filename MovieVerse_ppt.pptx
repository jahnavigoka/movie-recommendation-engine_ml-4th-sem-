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template - Minor Project review presentation for B.Tech II year. Replace every placeholder in angle brackets. Title slide: speak for 30 seconds - greet the panel, state the title, introduce the team and the guide. Do not read the slide word for word.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agenda to one slide. In a 10-12 minute review, spend the most time on literature survey, objectives and work completed.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60-90 seconds. Start broad (the domain), end narrow (your specific task). Avoid definitions copied from Wikipedia - the panel will ask for the 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 statement must be ONE sentence. If you need two sentences, the scope is too wide for a minor project. The panel's first question is usually: who exactly benefits?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read the table aloud. Speak about the trend: what most papers did, what results they reached, and what all of them left unsolved. Row 1 is a worked example - delete it and put your own paper there.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separates a good review from an average one. State 2-3 gaps only, and make sure each one maps to a paper you listed.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Avoid vague verbs - study, understand, analyse. Use build, classify, detect, compare, deploy. Four objectives is the right number for a minor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panel through the diagram left to right in under a minute, naming the input and the output first. Be ready to say where your contribution sits.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module per team member works well - it also answers the panel question 'who did what'.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versions where you know them. If you have a GitHub repository, show the link here - it is strong evidence of real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about status. Panels reward accurate self-assessment and penalise claims that fall apart under one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Adjust week numbers to your academic calendar. Showing a plan for the remaining weeks is what the panel wants to hear at Review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introduce anything new here. The conclusion restates the problem, the gap and the promise - nothing else.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Google Scholar's 'Cite' option and pick MLA/IEEE, then fix the formatting by hand. Never cite a blog, a YouTube video or a paper you have not opened.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deck open on the architecture slide during questions - most panel questions point back to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KL UNIVERSITY  •  BACHUPALLY CAMPUS, HYDERABAD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BB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Department of Computer Science &amp; Engineering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108813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IN" sz="2800" b="1">
                <a:solidFill>
                  <a:srgbClr val="FFFFFF"/>
                </a:solidFill>
                <a:latin typeface="Aptos"/>
              </a:rPr>
              <a:t>MovieVerse</a:t>
            </a:r>
            <a:r>
              <a:rPr sz="2800" b="1">
                <a:solidFill>
                  <a:srgbClr val="FFFFFF"/>
                </a:solidFill>
                <a:latin typeface="Aptos"/>
              </a:rPr>
              <a:t>: A Movie Recommendation Engine</a:t>
            </a:r>
            <a:endParaRPr sz="28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640080" y="2542032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1500">
                <a:solidFill>
                  <a:srgbClr val="FFFFFF"/>
                </a:solidFill>
                <a:latin typeface="Aptos"/>
              </a:rPr>
              <a:t>Content-based and rating-based movie recommendations</a:t>
            </a:r>
            <a:endParaRPr sz="1500">
              <a:solidFill>
                <a:srgbClr val="FFFFFF"/>
              </a:solidFill>
              <a:latin typeface="Apto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5577840" cy="2148840"/>
          </a:xfrm>
          <a:prstGeom prst="roundRect">
            <a:avLst>
              <a:gd name="adj" fmla="val 3404"/>
            </a:avLst>
          </a:prstGeom>
          <a:solidFill>
            <a:srgbClr val="1B2A55"/>
          </a:solidFill>
          <a:ln w="12700">
            <a:solidFill>
              <a:srgbClr val="2E3F6E"/>
            </a:solidFill>
            <a:prstDash val="solid"/>
          </a:ln>
        </p:spPr>
        <p:txBody>
          <a:bodyPr wrap="square"/>
          <a:p/>
        </p:txBody>
      </p:sp>
      <p:sp>
        <p:nvSpPr>
          <p:cNvPr id="7" name="Text 5"/>
          <p:cNvSpPr txBox="1"/>
          <p:nvPr/>
        </p:nvSpPr>
        <p:spPr>
          <a:xfrm>
            <a:off x="868680" y="3364992"/>
            <a:ext cx="5120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PRESENTED BY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657600"/>
            <a:ext cx="512064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IN" sz="1500">
                <a:solidFill>
                  <a:srgbClr val="FFFFFF"/>
                </a:solidFill>
                <a:latin typeface="Aptos"/>
              </a:rPr>
              <a:t>2520030373   Yasasri Pabbisetty</a:t>
            </a:r>
            <a:endParaRPr lang="en-IN" sz="1500">
              <a:solidFill>
                <a:srgbClr val="FFFFFF"/>
              </a:solidFill>
              <a:latin typeface="Aptos"/>
            </a:endParaRPr>
          </a:p>
          <a:p>
            <a:r>
              <a:rPr lang="en-IN" sz="1500">
                <a:solidFill>
                  <a:srgbClr val="FFFFFF"/>
                </a:solidFill>
                <a:latin typeface="Aptos"/>
              </a:rPr>
              <a:t>2520030483   Jahnavi Goka</a:t>
            </a:r>
            <a:endParaRPr lang="en-IN" sz="1500">
              <a:solidFill>
                <a:srgbClr val="FFFFFF"/>
              </a:solidFill>
              <a:latin typeface="Apto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492240" y="3200400"/>
            <a:ext cx="5029200" cy="2148840"/>
          </a:xfrm>
          <a:prstGeom prst="roundRect">
            <a:avLst>
              <a:gd name="adj" fmla="val 3404"/>
            </a:avLst>
          </a:prstGeom>
          <a:solidFill>
            <a:srgbClr val="1B2A55"/>
          </a:solidFill>
          <a:ln w="12700">
            <a:solidFill>
              <a:srgbClr val="2E3F6E"/>
            </a:solidFill>
            <a:prstDash val="solid"/>
          </a:ln>
        </p:spPr>
        <p:txBody>
          <a:bodyPr wrap="square"/>
          <a:p/>
        </p:txBody>
      </p:sp>
      <p:sp>
        <p:nvSpPr>
          <p:cNvPr id="10" name="Text 8"/>
          <p:cNvSpPr txBox="1"/>
          <p:nvPr/>
        </p:nvSpPr>
        <p:spPr>
          <a:xfrm>
            <a:off x="6720840" y="3364992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UNDER THE GUIDANCE OF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720840" y="37033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1600" b="1">
                <a:solidFill>
                  <a:srgbClr val="FFFFFF"/>
                </a:solidFill>
                <a:latin typeface="Aptos"/>
              </a:rPr>
              <a:t>[</a:t>
            </a:r>
            <a:r>
              <a:rPr lang="en-IN" sz="1600" b="1">
                <a:solidFill>
                  <a:srgbClr val="FFFFFF"/>
                </a:solidFill>
                <a:latin typeface="Aptos"/>
              </a:rPr>
              <a:t>Dr. Raghavendra</a:t>
            </a:r>
            <a:r>
              <a:rPr sz="1600" b="1">
                <a:solidFill>
                  <a:srgbClr val="FFFFFF"/>
                </a:solidFill>
                <a:latin typeface="Aptos"/>
              </a:rPr>
              <a:t>]</a:t>
            </a:r>
            <a:endParaRPr sz="16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6720840" y="4069080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1200">
                <a:solidFill>
                  <a:srgbClr val="FFFFFF"/>
                </a:solidFill>
                <a:latin typeface="Aptos"/>
              </a:rPr>
              <a:t>Department of CSE  |  KLH Bachupally Campus</a:t>
            </a:r>
            <a:endParaRPr sz="120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640080" y="580644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1000">
                <a:solidFill>
                  <a:srgbClr val="FFFFFF"/>
                </a:solidFill>
                <a:latin typeface="Aptos"/>
              </a:rPr>
              <a:t>B.Tech II Year  |  Minor Project Review  |  Academic Year 2026–27  |  Date: 12-10-2026</a:t>
            </a:r>
            <a:endParaRPr sz="1000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AGENDA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Contents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 wrap="square"/>
          <a:p/>
        </p:txBody>
      </p:sp>
      <p:sp>
        <p:nvSpPr>
          <p:cNvPr id="5" name="Shape 3"/>
          <p:cNvSpPr/>
          <p:nvPr/>
        </p:nvSpPr>
        <p:spPr>
          <a:xfrm>
            <a:off x="731520" y="1527048"/>
            <a:ext cx="384048" cy="384048"/>
          </a:xfrm>
          <a:prstGeom prst="ellipse">
            <a:avLst/>
          </a:prstGeom>
          <a:solidFill>
            <a:srgbClr val="C8A02C"/>
          </a:solidFill>
        </p:spPr>
        <p:txBody>
          <a:bodyPr wrap="square"/>
          <a:p/>
        </p:txBody>
      </p:sp>
      <p:sp>
        <p:nvSpPr>
          <p:cNvPr id="6" name="Text 4"/>
          <p:cNvSpPr txBox="1"/>
          <p:nvPr/>
        </p:nvSpPr>
        <p:spPr>
          <a:xfrm>
            <a:off x="731520" y="152704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61872" y="1417320"/>
            <a:ext cx="452628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1400">
                <a:latin typeface="Aptos"/>
              </a:rPr>
              <a:t>Introduction &amp; Domain Background</a:t>
            </a:r>
            <a:endParaRPr sz="1400">
              <a:latin typeface="Apto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2167128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 wrap="square"/>
          <a:p/>
        </p:txBody>
      </p:sp>
      <p:sp>
        <p:nvSpPr>
          <p:cNvPr id="9" name="Shape 7"/>
          <p:cNvSpPr/>
          <p:nvPr/>
        </p:nvSpPr>
        <p:spPr>
          <a:xfrm>
            <a:off x="731520" y="2276856"/>
            <a:ext cx="384048" cy="384048"/>
          </a:xfrm>
          <a:prstGeom prst="ellipse">
            <a:avLst/>
          </a:prstGeom>
          <a:solidFill>
            <a:srgbClr val="C8A02C"/>
          </a:solidFill>
        </p:spPr>
        <p:txBody>
          <a:bodyPr wrap="square"/>
          <a:p/>
        </p:txBody>
      </p:sp>
      <p:sp>
        <p:nvSpPr>
          <p:cNvPr id="10" name="Text 8"/>
          <p:cNvSpPr txBox="1"/>
          <p:nvPr/>
        </p:nvSpPr>
        <p:spPr>
          <a:xfrm>
            <a:off x="731520" y="227685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261872" y="2167128"/>
            <a:ext cx="452628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1400">
                <a:latin typeface="Aptos"/>
              </a:rPr>
              <a:t>Problem Statement &amp; Motivation</a:t>
            </a:r>
            <a:endParaRPr sz="1400">
              <a:latin typeface="Apto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2916936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 wrap="square"/>
          <a:p/>
        </p:txBody>
      </p:sp>
      <p:sp>
        <p:nvSpPr>
          <p:cNvPr id="13" name="Shape 11"/>
          <p:cNvSpPr/>
          <p:nvPr/>
        </p:nvSpPr>
        <p:spPr>
          <a:xfrm>
            <a:off x="731520" y="3026664"/>
            <a:ext cx="384048" cy="384048"/>
          </a:xfrm>
          <a:prstGeom prst="ellipse">
            <a:avLst/>
          </a:prstGeom>
          <a:solidFill>
            <a:srgbClr val="C8A02C"/>
          </a:solidFill>
        </p:spPr>
        <p:txBody>
          <a:bodyPr wrap="square"/>
          <a:p/>
        </p:txBody>
      </p:sp>
      <p:sp>
        <p:nvSpPr>
          <p:cNvPr id="14" name="Text 12"/>
          <p:cNvSpPr txBox="1"/>
          <p:nvPr/>
        </p:nvSpPr>
        <p:spPr>
          <a:xfrm>
            <a:off x="731520" y="302666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261872" y="2916936"/>
            <a:ext cx="452628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1400">
                <a:latin typeface="Aptos"/>
              </a:rPr>
              <a:t>Literature Survey</a:t>
            </a:r>
            <a:endParaRPr sz="1400">
              <a:latin typeface="Apto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48640" y="3666744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 wrap="square"/>
          <a:p/>
        </p:txBody>
      </p:sp>
      <p:sp>
        <p:nvSpPr>
          <p:cNvPr id="17" name="Shape 15"/>
          <p:cNvSpPr/>
          <p:nvPr/>
        </p:nvSpPr>
        <p:spPr>
          <a:xfrm>
            <a:off x="731520" y="3776472"/>
            <a:ext cx="384048" cy="384048"/>
          </a:xfrm>
          <a:prstGeom prst="ellipse">
            <a:avLst/>
          </a:prstGeom>
          <a:solidFill>
            <a:srgbClr val="C8A02C"/>
          </a:solidFill>
        </p:spPr>
        <p:txBody>
          <a:bodyPr wrap="square"/>
          <a:p/>
        </p:txBody>
      </p:sp>
      <p:sp>
        <p:nvSpPr>
          <p:cNvPr id="18" name="Text 16"/>
          <p:cNvSpPr txBox="1"/>
          <p:nvPr/>
        </p:nvSpPr>
        <p:spPr>
          <a:xfrm>
            <a:off x="731520" y="377647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261872" y="3666744"/>
            <a:ext cx="452628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1400">
                <a:latin typeface="Aptos"/>
              </a:rPr>
              <a:t>Research Gap Identified</a:t>
            </a:r>
            <a:endParaRPr sz="1400">
              <a:latin typeface="Apto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48640" y="4416552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 wrap="square"/>
          <a:p/>
        </p:txBody>
      </p:sp>
      <p:sp>
        <p:nvSpPr>
          <p:cNvPr id="21" name="Shape 19"/>
          <p:cNvSpPr/>
          <p:nvPr/>
        </p:nvSpPr>
        <p:spPr>
          <a:xfrm>
            <a:off x="731520" y="4526280"/>
            <a:ext cx="384048" cy="384048"/>
          </a:xfrm>
          <a:prstGeom prst="ellipse">
            <a:avLst/>
          </a:prstGeom>
          <a:solidFill>
            <a:srgbClr val="C8A02C"/>
          </a:solidFill>
        </p:spPr>
        <p:txBody>
          <a:bodyPr wrap="square"/>
          <a:p/>
        </p:txBody>
      </p:sp>
      <p:sp>
        <p:nvSpPr>
          <p:cNvPr id="22" name="Text 20"/>
          <p:cNvSpPr txBox="1"/>
          <p:nvPr/>
        </p:nvSpPr>
        <p:spPr>
          <a:xfrm>
            <a:off x="731520" y="452628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261872" y="4416552"/>
            <a:ext cx="452628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1400">
                <a:latin typeface="Aptos"/>
              </a:rPr>
              <a:t>Objectives of </a:t>
            </a:r>
            <a:r>
              <a:rPr lang="en-IN" sz="1400">
                <a:latin typeface="Aptos"/>
              </a:rPr>
              <a:t>MovieVerse</a:t>
            </a:r>
            <a:endParaRPr lang="en-IN" sz="1400">
              <a:latin typeface="Apto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48640" y="5166360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 wrap="square"/>
          <a:p/>
        </p:txBody>
      </p:sp>
      <p:sp>
        <p:nvSpPr>
          <p:cNvPr id="25" name="Shape 23"/>
          <p:cNvSpPr/>
          <p:nvPr/>
        </p:nvSpPr>
        <p:spPr>
          <a:xfrm>
            <a:off x="731520" y="5276088"/>
            <a:ext cx="384048" cy="384048"/>
          </a:xfrm>
          <a:prstGeom prst="ellipse">
            <a:avLst/>
          </a:prstGeom>
          <a:solidFill>
            <a:srgbClr val="C8A02C"/>
          </a:solidFill>
        </p:spPr>
        <p:txBody>
          <a:bodyPr wrap="square"/>
          <a:p/>
        </p:txBody>
      </p:sp>
      <p:sp>
        <p:nvSpPr>
          <p:cNvPr id="26" name="Text 24"/>
          <p:cNvSpPr txBox="1"/>
          <p:nvPr/>
        </p:nvSpPr>
        <p:spPr>
          <a:xfrm>
            <a:off x="731520" y="527608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261872" y="5166360"/>
            <a:ext cx="452628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1400">
                <a:latin typeface="Aptos"/>
              </a:rPr>
              <a:t>Proposed System Architecture</a:t>
            </a:r>
            <a:endParaRPr sz="1400">
              <a:latin typeface="Apto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217920" y="1417320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 wrap="square"/>
          <a:p/>
        </p:txBody>
      </p:sp>
      <p:sp>
        <p:nvSpPr>
          <p:cNvPr id="29" name="Shape 27"/>
          <p:cNvSpPr/>
          <p:nvPr/>
        </p:nvSpPr>
        <p:spPr>
          <a:xfrm>
            <a:off x="6400800" y="1527048"/>
            <a:ext cx="384048" cy="384048"/>
          </a:xfrm>
          <a:prstGeom prst="ellipse">
            <a:avLst/>
          </a:prstGeom>
          <a:solidFill>
            <a:srgbClr val="C8A02C"/>
          </a:solidFill>
        </p:spPr>
        <p:txBody>
          <a:bodyPr wrap="square"/>
          <a:p/>
        </p:txBody>
      </p:sp>
      <p:sp>
        <p:nvSpPr>
          <p:cNvPr id="30" name="Text 28"/>
          <p:cNvSpPr txBox="1"/>
          <p:nvPr/>
        </p:nvSpPr>
        <p:spPr>
          <a:xfrm>
            <a:off x="6400800" y="152704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931152" y="1417320"/>
            <a:ext cx="452628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1400">
                <a:latin typeface="Aptos"/>
              </a:rPr>
              <a:t>Methodology &amp; Modules</a:t>
            </a:r>
            <a:endParaRPr sz="1400">
              <a:latin typeface="Apto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217920" y="2167128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 wrap="square"/>
          <a:p/>
        </p:txBody>
      </p:sp>
      <p:sp>
        <p:nvSpPr>
          <p:cNvPr id="33" name="Shape 31"/>
          <p:cNvSpPr/>
          <p:nvPr/>
        </p:nvSpPr>
        <p:spPr>
          <a:xfrm>
            <a:off x="6400800" y="2276856"/>
            <a:ext cx="384048" cy="384048"/>
          </a:xfrm>
          <a:prstGeom prst="ellipse">
            <a:avLst/>
          </a:prstGeom>
          <a:solidFill>
            <a:srgbClr val="C8A02C"/>
          </a:solidFill>
        </p:spPr>
        <p:txBody>
          <a:bodyPr wrap="square"/>
          <a:p/>
        </p:txBody>
      </p:sp>
      <p:sp>
        <p:nvSpPr>
          <p:cNvPr id="34" name="Text 32"/>
          <p:cNvSpPr txBox="1"/>
          <p:nvPr/>
        </p:nvSpPr>
        <p:spPr>
          <a:xfrm>
            <a:off x="6400800" y="227685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931152" y="2167128"/>
            <a:ext cx="452628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1400">
                <a:latin typeface="Aptos"/>
              </a:rPr>
              <a:t>Tools and Technologies</a:t>
            </a:r>
            <a:endParaRPr sz="1400">
              <a:latin typeface="Apto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217920" y="2916936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 wrap="square"/>
          <a:p/>
        </p:txBody>
      </p:sp>
      <p:sp>
        <p:nvSpPr>
          <p:cNvPr id="37" name="Shape 35"/>
          <p:cNvSpPr/>
          <p:nvPr/>
        </p:nvSpPr>
        <p:spPr>
          <a:xfrm>
            <a:off x="6400800" y="3026664"/>
            <a:ext cx="384048" cy="384048"/>
          </a:xfrm>
          <a:prstGeom prst="ellipse">
            <a:avLst/>
          </a:prstGeom>
          <a:solidFill>
            <a:srgbClr val="C8A02C"/>
          </a:solidFill>
        </p:spPr>
        <p:txBody>
          <a:bodyPr wrap="square"/>
          <a:p/>
        </p:txBody>
      </p:sp>
      <p:sp>
        <p:nvSpPr>
          <p:cNvPr id="38" name="Text 36"/>
          <p:cNvSpPr txBox="1"/>
          <p:nvPr/>
        </p:nvSpPr>
        <p:spPr>
          <a:xfrm>
            <a:off x="6400800" y="302666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6931152" y="2916936"/>
            <a:ext cx="452628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1400">
                <a:latin typeface="Aptos"/>
              </a:rPr>
              <a:t>Work Completed / Demo</a:t>
            </a:r>
            <a:endParaRPr sz="1400">
              <a:latin typeface="Apto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217920" y="3666744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 wrap="square"/>
          <a:p/>
        </p:txBody>
      </p:sp>
      <p:sp>
        <p:nvSpPr>
          <p:cNvPr id="41" name="Shape 39"/>
          <p:cNvSpPr/>
          <p:nvPr/>
        </p:nvSpPr>
        <p:spPr>
          <a:xfrm>
            <a:off x="6400800" y="3776472"/>
            <a:ext cx="384048" cy="384048"/>
          </a:xfrm>
          <a:prstGeom prst="ellipse">
            <a:avLst/>
          </a:prstGeom>
          <a:solidFill>
            <a:srgbClr val="C8A02C"/>
          </a:solidFill>
        </p:spPr>
        <p:txBody>
          <a:bodyPr wrap="square"/>
          <a:p/>
        </p:txBody>
      </p:sp>
      <p:sp>
        <p:nvSpPr>
          <p:cNvPr id="42" name="Text 40"/>
          <p:cNvSpPr txBox="1"/>
          <p:nvPr/>
        </p:nvSpPr>
        <p:spPr>
          <a:xfrm>
            <a:off x="6400800" y="377647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6931152" y="3666744"/>
            <a:ext cx="452628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1400">
                <a:latin typeface="Aptos"/>
              </a:rPr>
              <a:t>Timeline &amp; Review Plan</a:t>
            </a:r>
            <a:endParaRPr sz="1400">
              <a:latin typeface="Aptos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6217920" y="4416552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 wrap="square"/>
          <a:p/>
        </p:txBody>
      </p:sp>
      <p:sp>
        <p:nvSpPr>
          <p:cNvPr id="45" name="Shape 43"/>
          <p:cNvSpPr/>
          <p:nvPr/>
        </p:nvSpPr>
        <p:spPr>
          <a:xfrm>
            <a:off x="6400800" y="4526280"/>
            <a:ext cx="384048" cy="384048"/>
          </a:xfrm>
          <a:prstGeom prst="ellipse">
            <a:avLst/>
          </a:prstGeom>
          <a:solidFill>
            <a:srgbClr val="C8A02C"/>
          </a:solidFill>
        </p:spPr>
        <p:txBody>
          <a:bodyPr wrap="square"/>
          <a:p/>
        </p:txBody>
      </p:sp>
      <p:sp>
        <p:nvSpPr>
          <p:cNvPr id="46" name="Text 44"/>
          <p:cNvSpPr txBox="1"/>
          <p:nvPr/>
        </p:nvSpPr>
        <p:spPr>
          <a:xfrm>
            <a:off x="6400800" y="452628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6931152" y="4416552"/>
            <a:ext cx="452628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1400">
                <a:latin typeface="Aptos"/>
              </a:rPr>
              <a:t>Expected Outcome &amp; Conclusion</a:t>
            </a:r>
            <a:endParaRPr sz="1400">
              <a:latin typeface="Aptos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6217920" y="5166360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 wrap="square"/>
          <a:p/>
        </p:txBody>
      </p:sp>
      <p:sp>
        <p:nvSpPr>
          <p:cNvPr id="49" name="Shape 47"/>
          <p:cNvSpPr/>
          <p:nvPr/>
        </p:nvSpPr>
        <p:spPr>
          <a:xfrm>
            <a:off x="6400800" y="5276088"/>
            <a:ext cx="384048" cy="384048"/>
          </a:xfrm>
          <a:prstGeom prst="ellipse">
            <a:avLst/>
          </a:prstGeom>
          <a:solidFill>
            <a:srgbClr val="C8A02C"/>
          </a:solidFill>
        </p:spPr>
        <p:txBody>
          <a:bodyPr wrap="square"/>
          <a:p/>
        </p:txBody>
      </p:sp>
      <p:sp>
        <p:nvSpPr>
          <p:cNvPr id="50" name="Text 48"/>
          <p:cNvSpPr txBox="1"/>
          <p:nvPr/>
        </p:nvSpPr>
        <p:spPr>
          <a:xfrm>
            <a:off x="6400800" y="527608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6931152" y="5166360"/>
            <a:ext cx="452628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1400">
                <a:latin typeface="Aptos"/>
              </a:rPr>
              <a:t>References</a:t>
            </a:r>
            <a:endParaRPr sz="1400">
              <a:latin typeface="Aptos"/>
            </a:endParaRPr>
          </a:p>
        </p:txBody>
      </p:sp>
      <p:sp>
        <p:nvSpPr>
          <p:cNvPr id="52" name="Text 50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900">
                <a:latin typeface="Aptos"/>
              </a:rPr>
              <a:t>Dept. of CSE  |  KLH Bachupally Campus</a:t>
            </a:r>
            <a:endParaRPr sz="900">
              <a:latin typeface="Aptos"/>
            </a:endParaRPr>
          </a:p>
        </p:txBody>
      </p:sp>
      <p:sp>
        <p:nvSpPr>
          <p:cNvPr id="53" name="Text 51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1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Introduction &amp; Domain Background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583680" cy="4480560"/>
          </a:xfrm>
          <a:prstGeom prst="roundRect">
            <a:avLst>
              <a:gd name="adj" fmla="val 1633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 wrap="square"/>
          <a:p/>
        </p:txBody>
      </p:sp>
      <p:sp>
        <p:nvSpPr>
          <p:cNvPr id="5" name="Text 3"/>
          <p:cNvSpPr txBox="1"/>
          <p:nvPr/>
        </p:nvSpPr>
        <p:spPr>
          <a:xfrm>
            <a:off x="868680" y="1691640"/>
            <a:ext cx="6035040" cy="3931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1300">
                <a:latin typeface="Aptos"/>
              </a:rPr>
              <a:t>What is the domain?</a:t>
            </a:r>
            <a:endParaRPr sz="1300">
              <a:latin typeface="Aptos"/>
            </a:endParaRPr>
          </a:p>
          <a:p>
            <a:r>
              <a:rPr sz="1300">
                <a:latin typeface="Aptos"/>
              </a:rPr>
              <a:t>Movie recommendation systems help users discover films from large catalogues by using movie attributes and rating patterns.</a:t>
            </a:r>
            <a:endParaRPr sz="1300">
              <a:latin typeface="Aptos"/>
            </a:endParaRPr>
          </a:p>
          <a:p>
            <a:endParaRPr sz="1300"/>
          </a:p>
          <a:p>
            <a:r>
              <a:rPr sz="1300">
                <a:latin typeface="Aptos"/>
              </a:rPr>
              <a:t>Why is it relevant?</a:t>
            </a:r>
            <a:endParaRPr sz="1300">
              <a:latin typeface="Aptos"/>
            </a:endParaRPr>
          </a:p>
          <a:p>
            <a:r>
              <a:rPr sz="1300">
                <a:latin typeface="Aptos"/>
              </a:rPr>
              <a:t>The MovieLens small dataset used here contains 100,836 ratings across 9,742 movies, illustrating how rating data can support recommendations [1].</a:t>
            </a:r>
            <a:endParaRPr sz="1300">
              <a:latin typeface="Aptos"/>
            </a:endParaRPr>
          </a:p>
          <a:p>
            <a:endParaRPr sz="1300"/>
          </a:p>
          <a:p>
            <a:r>
              <a:rPr sz="1300">
                <a:latin typeface="Aptos"/>
              </a:rPr>
              <a:t>Where does</a:t>
            </a:r>
            <a:r>
              <a:rPr lang="en-IN" sz="1300">
                <a:latin typeface="Aptos"/>
              </a:rPr>
              <a:t> MovieVerse</a:t>
            </a:r>
            <a:r>
              <a:rPr sz="1300">
                <a:latin typeface="Aptos"/>
              </a:rPr>
              <a:t> fit?</a:t>
            </a:r>
            <a:endParaRPr sz="1300">
              <a:latin typeface="Aptos"/>
            </a:endParaRPr>
          </a:p>
          <a:p>
            <a:r>
              <a:rPr lang="en-IN" sz="1300">
                <a:latin typeface="Aptos"/>
              </a:rPr>
              <a:t>MovieVerse</a:t>
            </a:r>
            <a:r>
              <a:rPr sz="1300">
                <a:latin typeface="Aptos"/>
              </a:rPr>
              <a:t> provides two selectable approaches: content similarity and rating-based recommendations.</a:t>
            </a:r>
            <a:endParaRPr sz="1300">
              <a:latin typeface="Apto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406640" y="1417320"/>
            <a:ext cx="420624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9AA5B8"/>
            </a:solidFill>
            <a:prstDash val="dash"/>
          </a:ln>
        </p:spPr>
        <p:txBody>
          <a:bodyPr wrap="square"/>
          <a:p/>
        </p:txBody>
      </p:sp>
      <p:sp>
        <p:nvSpPr>
          <p:cNvPr id="7" name="Text 5"/>
          <p:cNvSpPr txBox="1"/>
          <p:nvPr/>
        </p:nvSpPr>
        <p:spPr>
          <a:xfrm>
            <a:off x="7543800" y="1417320"/>
            <a:ext cx="3931920" cy="2834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1500" b="1">
                <a:latin typeface="Aptos"/>
              </a:rPr>
              <a:t>CineMatch workflow</a:t>
            </a:r>
            <a:endParaRPr sz="1500" b="1">
              <a:latin typeface="Aptos"/>
            </a:endParaRPr>
          </a:p>
          <a:p>
            <a:r>
              <a:rPr sz="1500" b="1">
                <a:latin typeface="Aptos"/>
              </a:rPr>
              <a:t>Movie metadata + user ratings → recommendation models → top-five movie suggestions</a:t>
            </a:r>
            <a:endParaRPr sz="1500" b="1">
              <a:latin typeface="Apto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406640" y="4434840"/>
            <a:ext cx="4206240" cy="1463040"/>
          </a:xfrm>
          <a:prstGeom prst="roundRect">
            <a:avLst>
              <a:gd name="adj" fmla="val 5000"/>
            </a:avLst>
          </a:prstGeom>
          <a:solidFill>
            <a:srgbClr val="FDF6E6"/>
          </a:solidFill>
          <a:ln w="12700">
            <a:solidFill>
              <a:srgbClr val="DDE3EC"/>
            </a:solidFill>
            <a:prstDash val="solid"/>
          </a:ln>
        </p:spPr>
        <p:txBody>
          <a:bodyPr wrap="square"/>
          <a:p/>
        </p:txBody>
      </p:sp>
      <p:sp>
        <p:nvSpPr>
          <p:cNvPr id="9" name="Text 7"/>
          <p:cNvSpPr txBox="1"/>
          <p:nvPr/>
        </p:nvSpPr>
        <p:spPr>
          <a:xfrm>
            <a:off x="7635240" y="4572000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1100" b="1">
                <a:latin typeface="Aptos"/>
              </a:rPr>
              <a:t>Project scope</a:t>
            </a:r>
            <a:endParaRPr sz="1100" b="1">
              <a:latin typeface="Aptos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7635240" y="4864608"/>
            <a:ext cx="37490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1000">
                <a:latin typeface="Aptos"/>
              </a:rPr>
              <a:t>Recommendations are candidate suggestions, not a guarantee of personal preference; output quality depends on dataset coverage.</a:t>
            </a:r>
            <a:endParaRPr sz="1000">
              <a:latin typeface="Aptos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900">
                <a:latin typeface="Aptos"/>
              </a:rPr>
              <a:t>Dept. of CSE  |  KLH Bachupally Campus</a:t>
            </a:r>
            <a:endParaRPr sz="900">
              <a:latin typeface="Apto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50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76465" y="1294130"/>
            <a:ext cx="4639310" cy="30651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2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Problem Statement &amp; Motivation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600200"/>
          </a:xfrm>
          <a:prstGeom prst="roundRect">
            <a:avLst>
              <a:gd name="adj" fmla="val 4571"/>
            </a:avLst>
          </a:prstGeom>
          <a:solidFill>
            <a:srgbClr val="F7EAEA"/>
          </a:solidFill>
          <a:ln w="12700">
            <a:solidFill>
              <a:srgbClr val="DDE3EC"/>
            </a:solidFill>
            <a:prstDash val="solid"/>
          </a:ln>
        </p:spPr>
        <p:txBody>
          <a:bodyPr wrap="square"/>
          <a:p/>
        </p:txBody>
      </p:sp>
      <p:sp>
        <p:nvSpPr>
          <p:cNvPr id="5" name="Shape 3"/>
          <p:cNvSpPr/>
          <p:nvPr/>
        </p:nvSpPr>
        <p:spPr>
          <a:xfrm>
            <a:off x="548640" y="1417320"/>
            <a:ext cx="109728" cy="1600200"/>
          </a:xfrm>
          <a:prstGeom prst="roundRect">
            <a:avLst>
              <a:gd name="adj" fmla="val 41667"/>
            </a:avLst>
          </a:prstGeom>
          <a:solidFill>
            <a:srgbClr val="A4161A"/>
          </a:solidFill>
          <a:ln w="12700">
            <a:solidFill>
              <a:srgbClr val="A4161A"/>
            </a:solidFill>
            <a:prstDash val="solid"/>
          </a:ln>
        </p:spPr>
        <p:txBody>
          <a:bodyPr wrap="square"/>
          <a:p/>
        </p:txBody>
      </p:sp>
      <p:sp>
        <p:nvSpPr>
          <p:cNvPr id="6" name="Text 4"/>
          <p:cNvSpPr txBox="1"/>
          <p:nvPr/>
        </p:nvSpPr>
        <p:spPr>
          <a:xfrm>
            <a:off x="914400" y="1627632"/>
            <a:ext cx="10424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A416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STATEMENT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1920240"/>
            <a:ext cx="104241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1600" b="1">
                <a:latin typeface="Aptos"/>
              </a:rPr>
              <a:t>“Movie discovery is time-consuming because large catalogues provide more choices than users can easily compare, making it difficult to find relevant films.”</a:t>
            </a:r>
            <a:endParaRPr sz="1600" b="1">
              <a:latin typeface="Apto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3520440" cy="2606040"/>
          </a:xfrm>
          <a:prstGeom prst="roundRect">
            <a:avLst>
              <a:gd name="adj" fmla="val 2807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 wrap="square"/>
          <a:p/>
        </p:txBody>
      </p:sp>
      <p:sp>
        <p:nvSpPr>
          <p:cNvPr id="9" name="Shape 7"/>
          <p:cNvSpPr/>
          <p:nvPr/>
        </p:nvSpPr>
        <p:spPr>
          <a:xfrm>
            <a:off x="777240" y="3520440"/>
            <a:ext cx="384048" cy="384048"/>
          </a:xfrm>
          <a:prstGeom prst="ellipse">
            <a:avLst/>
          </a:prstGeom>
          <a:solidFill>
            <a:srgbClr val="C8A02C"/>
          </a:solidFill>
        </p:spPr>
        <p:txBody>
          <a:bodyPr wrap="square"/>
          <a:p/>
        </p:txBody>
      </p:sp>
      <p:sp>
        <p:nvSpPr>
          <p:cNvPr id="10" name="Text 8"/>
          <p:cNvSpPr txBox="1"/>
          <p:nvPr/>
        </p:nvSpPr>
        <p:spPr>
          <a:xfrm>
            <a:off x="777240" y="352044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023360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Who is affected?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526280"/>
            <a:ext cx="306324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1200">
                <a:latin typeface="Aptos"/>
              </a:rPr>
              <a:t>Movie viewers who want to discover films similar to a title they already like.</a:t>
            </a:r>
            <a:endParaRPr sz="1200">
              <a:latin typeface="Apto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297680" y="3291840"/>
            <a:ext cx="3520440" cy="2606040"/>
          </a:xfrm>
          <a:prstGeom prst="roundRect">
            <a:avLst>
              <a:gd name="adj" fmla="val 2807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 wrap="square"/>
          <a:p/>
        </p:txBody>
      </p:sp>
      <p:sp>
        <p:nvSpPr>
          <p:cNvPr id="14" name="Shape 12"/>
          <p:cNvSpPr/>
          <p:nvPr/>
        </p:nvSpPr>
        <p:spPr>
          <a:xfrm>
            <a:off x="4526280" y="3520440"/>
            <a:ext cx="384048" cy="384048"/>
          </a:xfrm>
          <a:prstGeom prst="ellipse">
            <a:avLst/>
          </a:prstGeom>
          <a:solidFill>
            <a:srgbClr val="C8A02C"/>
          </a:solidFill>
        </p:spPr>
        <p:txBody>
          <a:bodyPr wrap="square"/>
          <a:p/>
        </p:txBody>
      </p:sp>
      <p:sp>
        <p:nvSpPr>
          <p:cNvPr id="15" name="Text 13"/>
          <p:cNvSpPr txBox="1"/>
          <p:nvPr/>
        </p:nvSpPr>
        <p:spPr>
          <a:xfrm>
            <a:off x="4526280" y="352044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26280" y="4023360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the cost of the problem?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526280" y="4526280"/>
            <a:ext cx="306324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1200">
                <a:latin typeface="Aptos"/>
              </a:rPr>
              <a:t>Users may spend extra time browsing unrelated titles; this project does not claim a measured time-saving value.</a:t>
            </a:r>
            <a:endParaRPr sz="1200">
              <a:latin typeface="Apto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046720" y="3291840"/>
            <a:ext cx="3520440" cy="2606040"/>
          </a:xfrm>
          <a:prstGeom prst="roundRect">
            <a:avLst>
              <a:gd name="adj" fmla="val 2807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 wrap="square"/>
          <a:p/>
        </p:txBody>
      </p:sp>
      <p:sp>
        <p:nvSpPr>
          <p:cNvPr id="19" name="Shape 17"/>
          <p:cNvSpPr/>
          <p:nvPr/>
        </p:nvSpPr>
        <p:spPr>
          <a:xfrm>
            <a:off x="8275320" y="3520440"/>
            <a:ext cx="384048" cy="384048"/>
          </a:xfrm>
          <a:prstGeom prst="ellipse">
            <a:avLst/>
          </a:prstGeom>
          <a:solidFill>
            <a:srgbClr val="C8A02C"/>
          </a:solidFill>
        </p:spPr>
        <p:txBody>
          <a:bodyPr wrap="square"/>
          <a:p/>
        </p:txBody>
      </p:sp>
      <p:sp>
        <p:nvSpPr>
          <p:cNvPr id="20" name="Text 18"/>
          <p:cNvSpPr txBox="1"/>
          <p:nvPr/>
        </p:nvSpPr>
        <p:spPr>
          <a:xfrm>
            <a:off x="8275320" y="352044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4023360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solve it now?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275320" y="4526280"/>
            <a:ext cx="306324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1200">
                <a:latin typeface="Aptos"/>
              </a:rPr>
              <a:t>A lightweight, local web application can demonstrate two common recommendation approaches using public movie metadata and rating data.</a:t>
            </a:r>
            <a:endParaRPr sz="1200">
              <a:latin typeface="Aptos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900">
                <a:latin typeface="Aptos"/>
              </a:rPr>
              <a:t>Dept. of CSE  |  KLH Bachupally Campus</a:t>
            </a:r>
            <a:endParaRPr sz="900">
              <a:latin typeface="Aptos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3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Literature Survey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1100">
                <a:latin typeface="Aptos"/>
              </a:rPr>
              <a:t>Selected literature relevant to content-based, collaborative and hybrid recommendation methods.</a:t>
            </a:r>
            <a:endParaRPr sz="1100">
              <a:latin typeface="Aptos"/>
            </a:endParaRPr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548640" y="1572768"/>
          <a:ext cx="11064240" cy="3255264"/>
        </p:xfrm>
        <a:graphic>
          <a:graphicData uri="http://schemas.openxmlformats.org/drawingml/2006/table">
            <a:tbl>
              <a:tblPr/>
              <a:tblGrid>
                <a:gridCol w="548640"/>
                <a:gridCol w="1554480"/>
                <a:gridCol w="2743200"/>
                <a:gridCol w="1737360"/>
                <a:gridCol w="2286000"/>
                <a:gridCol w="2194560"/>
              </a:tblGrid>
              <a:tr h="4114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/>
                        <a:t>S.No</a:t>
                      </a:r>
                      <a:endParaRPr sz="1100" b="1"/>
                    </a:p>
                  </a:txBody>
                  <a:tcPr marL="36576" marR="36576" marT="22860" marB="2286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/>
                        <a:t>Author &amp; Year</a:t>
                      </a:r>
                      <a:endParaRPr sz="1100" b="1"/>
                    </a:p>
                  </a:txBody>
                  <a:tcPr marL="36576" marR="36576" marT="22860" marB="2286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/>
                        <a:t>Title / Technique Used</a:t>
                      </a:r>
                      <a:endParaRPr sz="1100" b="1"/>
                    </a:p>
                  </a:txBody>
                  <a:tcPr marL="36576" marR="36576" marT="22860" marB="2286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/>
                        <a:t>Dataset / Tools</a:t>
                      </a:r>
                      <a:endParaRPr sz="1100" b="1"/>
                    </a:p>
                  </a:txBody>
                  <a:tcPr marL="36576" marR="36576" marT="22860" marB="2286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/>
                        <a:t>Key Findings</a:t>
                      </a:r>
                      <a:endParaRPr sz="1100" b="1"/>
                    </a:p>
                  </a:txBody>
                  <a:tcPr marL="36576" marR="36576" marT="22860" marB="2286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/>
                        <a:t>Limitation / Gap</a:t>
                      </a:r>
                      <a:endParaRPr sz="1100" b="1"/>
                    </a:p>
                  </a:txBody>
                  <a:tcPr marL="36576" marR="36576" marT="22860" marB="2286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/>
                        <a:t>1</a:t>
                      </a:r>
                      <a:endParaRPr sz="1100"/>
                    </a:p>
                  </a:txBody>
                  <a:tcPr marL="36576" marR="36576" marT="22860" marB="2286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/>
                        <a:t>Patel &amp; Patel (2020)</a:t>
                      </a:r>
                      <a:endParaRPr sz="1100"/>
                    </a:p>
                  </a:txBody>
                  <a:tcPr marL="36576" marR="36576" marT="22860" marB="2286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/>
                        <a:t>State-of-the-art survey of recommender systems</a:t>
                      </a:r>
                      <a:endParaRPr sz="1100"/>
                    </a:p>
                  </a:txBody>
                  <a:tcPr marL="36576" marR="36576" marT="22860" marB="2286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/>
                        <a:t>Survey of recommendation approaches</a:t>
                      </a:r>
                      <a:endParaRPr sz="1100"/>
                    </a:p>
                  </a:txBody>
                  <a:tcPr marL="36576" marR="36576" marT="22860" marB="2286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/>
                        <a:t>Reviews content-based and collaborative filtering; discusses sparsity and cold-start challenges.</a:t>
                      </a:r>
                      <a:endParaRPr sz="1100"/>
                    </a:p>
                  </a:txBody>
                  <a:tcPr marL="36576" marR="36576" marT="22860" marB="2286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/>
                        <a:t>Survey-level findings; performance depends on dataset and use case.</a:t>
                      </a:r>
                      <a:endParaRPr sz="1100"/>
                    </a:p>
                  </a:txBody>
                  <a:tcPr marL="36576" marR="36576" marT="22860" marB="2286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/>
                        <a:t>2</a:t>
                      </a:r>
                      <a:endParaRPr sz="1100"/>
                    </a:p>
                  </a:txBody>
                  <a:tcPr marL="36576" marR="36576" marT="22860" marB="2286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/>
                        <a:t>Kulkarni &amp; Rodd (2020)</a:t>
                      </a:r>
                      <a:endParaRPr sz="1100"/>
                    </a:p>
                  </a:txBody>
                  <a:tcPr marL="36576" marR="36576" marT="22860" marB="2286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/>
                        <a:t>Review of context-aware recommendation systems</a:t>
                      </a:r>
                      <a:endParaRPr sz="1100"/>
                    </a:p>
                  </a:txBody>
                  <a:tcPr marL="36576" marR="36576" marT="22860" marB="2286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/>
                        <a:t>Literature review</a:t>
                      </a:r>
                      <a:endParaRPr sz="1100"/>
                    </a:p>
                  </a:txBody>
                  <a:tcPr marL="36576" marR="36576" marT="22860" marB="2286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/>
                        <a:t>Explains content, collaborative and hybrid approaches and the role of context.</a:t>
                      </a:r>
                      <a:endParaRPr sz="1100"/>
                    </a:p>
                  </a:txBody>
                  <a:tcPr marL="36576" marR="36576" marT="22860" marB="2286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/>
                        <a:t>Context changes over time and may not be captured by basic recommenders.</a:t>
                      </a:r>
                      <a:endParaRPr sz="1100"/>
                    </a:p>
                  </a:txBody>
                  <a:tcPr marL="36576" marR="36576" marT="22860" marB="2286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/>
                        <a:t>3</a:t>
                      </a:r>
                      <a:endParaRPr sz="1100"/>
                    </a:p>
                  </a:txBody>
                  <a:tcPr marL="36576" marR="36576" marT="22860" marB="2286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/>
                        <a:t>Li &amp; Han (2021)</a:t>
                      </a:r>
                      <a:endParaRPr sz="1100"/>
                    </a:p>
                  </a:txBody>
                  <a:tcPr marL="36576" marR="36576" marT="22860" marB="2286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/>
                        <a:t>Time-aware hybrid recommendation scheme</a:t>
                      </a:r>
                      <a:endParaRPr sz="1100"/>
                    </a:p>
                  </a:txBody>
                  <a:tcPr marL="36576" marR="36576" marT="22860" marB="2286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/>
                        <a:t>Content-based + collaborative filtering</a:t>
                      </a:r>
                      <a:endParaRPr sz="1100"/>
                    </a:p>
                  </a:txBody>
                  <a:tcPr marL="36576" marR="36576" marT="22860" marB="2286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/>
                        <a:t>Combines item content and collaborative signals with time-aware information.</a:t>
                      </a:r>
                      <a:endParaRPr sz="1100"/>
                    </a:p>
                  </a:txBody>
                  <a:tcPr marL="36576" marR="36576" marT="22860" marB="2286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/>
                        <a:t>More complex than the two independent baseline models in CineMatch.</a:t>
                      </a:r>
                      <a:endParaRPr sz="1100"/>
                    </a:p>
                  </a:txBody>
                  <a:tcPr marL="36576" marR="36576" marT="22860" marB="2286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/>
                        <a:t>4</a:t>
                      </a:r>
                      <a:endParaRPr sz="1100"/>
                    </a:p>
                  </a:txBody>
                  <a:tcPr marL="36576" marR="36576" marT="22860" marB="2286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/>
                        <a:t>Roy &amp; Dutta (2022)</a:t>
                      </a:r>
                      <a:endParaRPr sz="1100"/>
                    </a:p>
                  </a:txBody>
                  <a:tcPr marL="36576" marR="36576" marT="22860" marB="2286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/>
                        <a:t>Systematic review and research perspective on recommender systems</a:t>
                      </a:r>
                      <a:endParaRPr sz="1100"/>
                    </a:p>
                  </a:txBody>
                  <a:tcPr marL="36576" marR="36576" marT="22860" marB="2286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/>
                        <a:t>Systematic literature review</a:t>
                      </a:r>
                      <a:endParaRPr sz="1100"/>
                    </a:p>
                  </a:txBody>
                  <a:tcPr marL="36576" marR="36576" marT="22860" marB="2286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/>
                        <a:t>Summarises methods, application areas and open research challenges.</a:t>
                      </a:r>
                      <a:endParaRPr sz="1100"/>
                    </a:p>
                  </a:txBody>
                  <a:tcPr marL="36576" marR="36576" marT="22860" marB="2286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/>
                        <a:t>Evaluation and practical usefulness still need to be checked for each application.</a:t>
                      </a:r>
                      <a:endParaRPr sz="1100"/>
                    </a:p>
                  </a:txBody>
                  <a:tcPr marL="36576" marR="36576" marT="22860" marB="2286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3"/>
          <p:cNvSpPr txBox="1"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IN" sz="1200">
                <a:latin typeface="Aptos"/>
              </a:rPr>
              <a:t>MovieVerse</a:t>
            </a:r>
            <a:r>
              <a:rPr sz="1200">
                <a:latin typeface="Aptos"/>
              </a:rPr>
              <a:t> uses a lightweight baseline and demonstrates both approaches separately. Its current results are functional but have not been evaluated with formal ranking metrics.</a:t>
            </a:r>
            <a:endParaRPr sz="1200">
              <a:latin typeface="Aptos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900">
                <a:latin typeface="Aptos"/>
              </a:rPr>
              <a:t>Dept. of CSE  |  KLH Bachupally Campus</a:t>
            </a:r>
            <a:endParaRPr sz="900">
              <a:latin typeface="Aptos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4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Research Gap Identified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766560" cy="987552"/>
          </a:xfrm>
          <a:prstGeom prst="roundRect">
            <a:avLst>
              <a:gd name="adj" fmla="val 7407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 wrap="square"/>
          <a:p/>
        </p:txBody>
      </p:sp>
      <p:sp>
        <p:nvSpPr>
          <p:cNvPr id="5" name="Text 3"/>
          <p:cNvSpPr txBox="1"/>
          <p:nvPr/>
        </p:nvSpPr>
        <p:spPr>
          <a:xfrm>
            <a:off x="868680" y="1591056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GAP 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847088"/>
            <a:ext cx="6172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1200">
                <a:latin typeface="Aptos"/>
              </a:rPr>
              <a:t>Movie metadata and user ratings are stored in separate datasets, so title matching and coverage can be inconsistent.</a:t>
            </a:r>
            <a:endParaRPr sz="1200">
              <a:latin typeface="Apto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6766560" cy="987552"/>
          </a:xfrm>
          <a:prstGeom prst="roundRect">
            <a:avLst>
              <a:gd name="adj" fmla="val 7407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 wrap="square"/>
          <a:p/>
        </p:txBody>
      </p:sp>
      <p:sp>
        <p:nvSpPr>
          <p:cNvPr id="8" name="Text 6"/>
          <p:cNvSpPr txBox="1"/>
          <p:nvPr/>
        </p:nvSpPr>
        <p:spPr>
          <a:xfrm>
            <a:off x="868680" y="2734056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GAP 2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990088"/>
            <a:ext cx="6172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1200">
                <a:latin typeface="Aptos"/>
              </a:rPr>
              <a:t>A basic content model can return similar-looking titles without proving recommendation relevance; collaborative results can be sparse for some movies.</a:t>
            </a:r>
            <a:endParaRPr sz="1200">
              <a:latin typeface="Apto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6766560" cy="987552"/>
          </a:xfrm>
          <a:prstGeom prst="roundRect">
            <a:avLst>
              <a:gd name="adj" fmla="val 7407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 wrap="square"/>
          <a:p/>
        </p:txBody>
      </p:sp>
      <p:sp>
        <p:nvSpPr>
          <p:cNvPr id="11" name="Text 9"/>
          <p:cNvSpPr txBox="1"/>
          <p:nvPr/>
        </p:nvSpPr>
        <p:spPr>
          <a:xfrm>
            <a:off x="868680" y="3877056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GAP 3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133088"/>
            <a:ext cx="6172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1200">
                <a:latin typeface="Aptos"/>
              </a:rPr>
              <a:t>A working interface is needed so users can select a movie and switch between recommendation methods.</a:t>
            </a:r>
            <a:endParaRPr sz="1200">
              <a:latin typeface="Apto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635240" y="1463040"/>
            <a:ext cx="3977640" cy="3502152"/>
          </a:xfrm>
          <a:prstGeom prst="roundRect">
            <a:avLst>
              <a:gd name="adj" fmla="val 2089"/>
            </a:avLst>
          </a:prstGeom>
          <a:solidFill>
            <a:srgbClr val="1B2A55"/>
          </a:solidFill>
          <a:ln w="12700">
            <a:solidFill>
              <a:srgbClr val="1B2A55"/>
            </a:solidFill>
            <a:prstDash val="solid"/>
          </a:ln>
        </p:spPr>
        <p:txBody>
          <a:bodyPr wrap="square"/>
          <a:p/>
        </p:txBody>
      </p:sp>
      <p:sp>
        <p:nvSpPr>
          <p:cNvPr id="14" name="Text 12"/>
          <p:cNvSpPr txBox="1"/>
          <p:nvPr/>
        </p:nvSpPr>
        <p:spPr>
          <a:xfrm>
            <a:off x="7909560" y="1691640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OUR PROJECT ADDRESSES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909560" y="2057400"/>
            <a:ext cx="342900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IN" sz="1200" b="1">
                <a:solidFill>
                  <a:schemeClr val="bg2"/>
                </a:solidFill>
                <a:latin typeface="Aptos"/>
              </a:rPr>
              <a:t>MovieVerse</a:t>
            </a:r>
            <a:r>
              <a:rPr sz="1200" b="1">
                <a:solidFill>
                  <a:schemeClr val="bg2"/>
                </a:solidFill>
                <a:latin typeface="Aptos"/>
              </a:rPr>
              <a:t> implements two simple, selectable models in a Streamlit interface and exposes their limitations for future evaluation.</a:t>
            </a:r>
            <a:endParaRPr sz="1200" b="1">
              <a:solidFill>
                <a:schemeClr val="bg2"/>
              </a:solidFill>
              <a:latin typeface="Aptos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7909560" y="3977640"/>
            <a:ext cx="34290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900">
                <a:solidFill>
                  <a:schemeClr val="bg2"/>
                </a:solidFill>
                <a:latin typeface="Aptos"/>
              </a:rPr>
              <a:t>These are project-specific implementation gaps and limitations, not a claim that no existing recommender system addresses them.</a:t>
            </a:r>
            <a:endParaRPr sz="900">
              <a:solidFill>
                <a:schemeClr val="bg2"/>
              </a:solidFill>
              <a:latin typeface="Aptos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548640" y="5120640"/>
            <a:ext cx="67665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1100">
                <a:latin typeface="Aptos"/>
              </a:rPr>
              <a:t>The literature motivates the chosen baseline methods; formal comparison and quality evaluation remain future wor</a:t>
            </a:r>
            <a:r>
              <a:rPr lang="en-IN" sz="1100">
                <a:latin typeface="Aptos"/>
              </a:rPr>
              <a:t>k.</a:t>
            </a:r>
            <a:endParaRPr lang="en-IN" sz="1100">
              <a:latin typeface="Aptos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900">
                <a:latin typeface="Aptos"/>
              </a:rPr>
              <a:t>Dept. of CSE  |  KLH Bachupally Campus</a:t>
            </a:r>
            <a:endParaRPr sz="900">
              <a:latin typeface="Aptos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5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Objectives of the Project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1000">
                <a:latin typeface="Aptos"/>
              </a:rPr>
              <a:t>Objectives are tied to features implemented and testable in the current prototype.</a:t>
            </a:r>
            <a:endParaRPr sz="1000">
              <a:latin typeface="Apto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 wrap="square"/>
          <a:p/>
        </p:txBody>
      </p:sp>
      <p:sp>
        <p:nvSpPr>
          <p:cNvPr id="6" name="Shape 4"/>
          <p:cNvSpPr/>
          <p:nvPr/>
        </p:nvSpPr>
        <p:spPr>
          <a:xfrm>
            <a:off x="822960" y="1892808"/>
            <a:ext cx="384048" cy="384048"/>
          </a:xfrm>
          <a:prstGeom prst="ellipse">
            <a:avLst/>
          </a:prstGeom>
          <a:solidFill>
            <a:srgbClr val="C8A02C"/>
          </a:solidFill>
        </p:spPr>
        <p:txBody>
          <a:bodyPr wrap="square"/>
          <a:p/>
        </p:txBody>
      </p:sp>
      <p:sp>
        <p:nvSpPr>
          <p:cNvPr id="7" name="Text 5"/>
          <p:cNvSpPr txBox="1"/>
          <p:nvPr/>
        </p:nvSpPr>
        <p:spPr>
          <a:xfrm>
            <a:off x="822960" y="189280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627632"/>
            <a:ext cx="99669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1300">
                <a:latin typeface="Aptos"/>
              </a:rPr>
              <a:t>Load the TMDB 5000 movie metadata and MovieLens latest-small ratings datasets.</a:t>
            </a:r>
            <a:endParaRPr sz="1300">
              <a:latin typeface="Apto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2706624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 wrap="square"/>
          <a:p/>
        </p:txBody>
      </p:sp>
      <p:sp>
        <p:nvSpPr>
          <p:cNvPr id="10" name="Shape 8"/>
          <p:cNvSpPr/>
          <p:nvPr/>
        </p:nvSpPr>
        <p:spPr>
          <a:xfrm>
            <a:off x="822960" y="2971800"/>
            <a:ext cx="384048" cy="384048"/>
          </a:xfrm>
          <a:prstGeom prst="ellipse">
            <a:avLst/>
          </a:prstGeom>
          <a:solidFill>
            <a:srgbClr val="C8A02C"/>
          </a:solidFill>
        </p:spPr>
        <p:txBody>
          <a:bodyPr wrap="square"/>
          <a:p/>
        </p:txBody>
      </p:sp>
      <p:sp>
        <p:nvSpPr>
          <p:cNvPr id="11" name="Text 9"/>
          <p:cNvSpPr txBox="1"/>
          <p:nvPr/>
        </p:nvSpPr>
        <p:spPr>
          <a:xfrm>
            <a:off x="822960" y="29718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2706624"/>
            <a:ext cx="99669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1300">
                <a:latin typeface="Aptos"/>
              </a:rPr>
              <a:t>Build a content-based model using TF-IDF vectors and cosine similarity.</a:t>
            </a:r>
            <a:endParaRPr sz="1300">
              <a:latin typeface="Apto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3785616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 wrap="square"/>
          <a:p/>
        </p:txBody>
      </p:sp>
      <p:sp>
        <p:nvSpPr>
          <p:cNvPr id="14" name="Shape 12"/>
          <p:cNvSpPr/>
          <p:nvPr/>
        </p:nvSpPr>
        <p:spPr>
          <a:xfrm>
            <a:off x="822960" y="4050792"/>
            <a:ext cx="384048" cy="384048"/>
          </a:xfrm>
          <a:prstGeom prst="ellipse">
            <a:avLst/>
          </a:prstGeom>
          <a:solidFill>
            <a:srgbClr val="C8A02C"/>
          </a:solidFill>
        </p:spPr>
        <p:txBody>
          <a:bodyPr wrap="square"/>
          <a:p/>
        </p:txBody>
      </p:sp>
      <p:sp>
        <p:nvSpPr>
          <p:cNvPr id="15" name="Text 13"/>
          <p:cNvSpPr txBox="1"/>
          <p:nvPr/>
        </p:nvSpPr>
        <p:spPr>
          <a:xfrm>
            <a:off x="822960" y="405079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785616"/>
            <a:ext cx="99669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1200">
                <a:latin typeface="Aptos"/>
              </a:rPr>
              <a:t>Implement a rating-based collaborative recommendation baseline and inspect sample outputs; formal ranking metrics are not yet reported.</a:t>
            </a:r>
            <a:endParaRPr sz="1200">
              <a:latin typeface="Apto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48640" y="4864608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 wrap="square"/>
          <a:p/>
        </p:txBody>
      </p:sp>
      <p:sp>
        <p:nvSpPr>
          <p:cNvPr id="18" name="Shape 16"/>
          <p:cNvSpPr/>
          <p:nvPr/>
        </p:nvSpPr>
        <p:spPr>
          <a:xfrm>
            <a:off x="822960" y="5129784"/>
            <a:ext cx="384048" cy="384048"/>
          </a:xfrm>
          <a:prstGeom prst="ellipse">
            <a:avLst/>
          </a:prstGeom>
          <a:solidFill>
            <a:srgbClr val="C8A02C"/>
          </a:solidFill>
        </p:spPr>
        <p:txBody>
          <a:bodyPr wrap="square"/>
          <a:p/>
        </p:txBody>
      </p:sp>
      <p:sp>
        <p:nvSpPr>
          <p:cNvPr id="19" name="Text 17"/>
          <p:cNvSpPr txBox="1"/>
          <p:nvPr/>
        </p:nvSpPr>
        <p:spPr>
          <a:xfrm>
            <a:off x="822960" y="512978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4864608"/>
            <a:ext cx="99669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1300">
                <a:latin typeface="Aptos"/>
              </a:rPr>
              <a:t>Deploy both methods in a Streamlit interface that displays up to five recommendations.</a:t>
            </a:r>
            <a:endParaRPr sz="1300">
              <a:latin typeface="Aptos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900">
                <a:latin typeface="Aptos"/>
              </a:rPr>
              <a:t>Dept. of CSE  |  KLH Bachupally Campus</a:t>
            </a:r>
            <a:endParaRPr sz="900">
              <a:latin typeface="Aptos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6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Proposed System Architecture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 wrap="square"/>
          <a:p/>
        </p:txBody>
      </p:sp>
      <p:sp>
        <p:nvSpPr>
          <p:cNvPr id="5" name="Text 3"/>
          <p:cNvSpPr txBox="1"/>
          <p:nvPr/>
        </p:nvSpPr>
        <p:spPr>
          <a:xfrm>
            <a:off x="685800" y="1920240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20" dirty="0">
                <a:solidFill>
                  <a:srgbClr val="1B2A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INPUT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86000"/>
            <a:ext cx="22860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1200">
                <a:latin typeface="Aptos"/>
              </a:rPr>
              <a:t>TMDB movie metadata</a:t>
            </a:r>
            <a:endParaRPr sz="1200">
              <a:latin typeface="Aptos"/>
            </a:endParaRPr>
          </a:p>
          <a:p>
            <a:r>
              <a:rPr sz="1200">
                <a:latin typeface="Aptos"/>
              </a:rPr>
              <a:t>Genres, keywords, cast, overview</a:t>
            </a:r>
            <a:endParaRPr sz="1200">
              <a:latin typeface="Aptos"/>
            </a:endParaRPr>
          </a:p>
          <a:p>
            <a:endParaRPr sz="1200"/>
          </a:p>
          <a:p>
            <a:r>
              <a:rPr sz="1200">
                <a:latin typeface="Aptos"/>
              </a:rPr>
              <a:t>MovieLens ratings</a:t>
            </a:r>
            <a:endParaRPr sz="1200">
              <a:latin typeface="Aptos"/>
            </a:endParaRPr>
          </a:p>
          <a:p>
            <a:r>
              <a:rPr sz="1200">
                <a:latin typeface="Aptos"/>
              </a:rPr>
              <a:t>User ID, movie ID, rating</a:t>
            </a:r>
            <a:endParaRPr sz="1200">
              <a:latin typeface="Apto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182112" y="2404872"/>
            <a:ext cx="201168" cy="310896"/>
          </a:xfrm>
          <a:prstGeom prst="rightArrow">
            <a:avLst/>
          </a:prstGeom>
          <a:solidFill>
            <a:srgbClr val="C8A02C"/>
          </a:solidFill>
          <a:ln w="12700">
            <a:solidFill>
              <a:srgbClr val="C8A02C"/>
            </a:solidFill>
            <a:prstDash val="solid"/>
          </a:ln>
        </p:spPr>
        <p:txBody>
          <a:bodyPr wrap="square"/>
          <a:p/>
        </p:txBody>
      </p:sp>
      <p:sp>
        <p:nvSpPr>
          <p:cNvPr id="8" name="Shape 6"/>
          <p:cNvSpPr/>
          <p:nvPr/>
        </p:nvSpPr>
        <p:spPr>
          <a:xfrm>
            <a:off x="3438144" y="169164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 wrap="square"/>
          <a:p/>
        </p:txBody>
      </p:sp>
      <p:sp>
        <p:nvSpPr>
          <p:cNvPr id="9" name="Text 7"/>
          <p:cNvSpPr txBox="1"/>
          <p:nvPr/>
        </p:nvSpPr>
        <p:spPr>
          <a:xfrm>
            <a:off x="3575304" y="1920240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20" dirty="0">
                <a:solidFill>
                  <a:srgbClr val="1B2A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PRE-PROCESSING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575304" y="2286000"/>
            <a:ext cx="22860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1200">
                <a:latin typeface="Aptos"/>
              </a:rPr>
              <a:t>Clean missing overview text</a:t>
            </a:r>
            <a:endParaRPr sz="1200">
              <a:latin typeface="Aptos"/>
            </a:endParaRPr>
          </a:p>
          <a:p>
            <a:r>
              <a:rPr sz="1200">
                <a:latin typeface="Aptos"/>
              </a:rPr>
              <a:t>Parse genres, keywords and cast</a:t>
            </a:r>
            <a:endParaRPr sz="1200">
              <a:latin typeface="Aptos"/>
            </a:endParaRPr>
          </a:p>
          <a:p>
            <a:r>
              <a:rPr sz="1200">
                <a:latin typeface="Aptos"/>
              </a:rPr>
              <a:t>Match titles to rating data</a:t>
            </a:r>
            <a:endParaRPr sz="1200">
              <a:latin typeface="Apto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071616" y="2404872"/>
            <a:ext cx="201168" cy="310896"/>
          </a:xfrm>
          <a:prstGeom prst="rightArrow">
            <a:avLst/>
          </a:prstGeom>
          <a:solidFill>
            <a:srgbClr val="C8A02C"/>
          </a:solidFill>
          <a:ln w="12700">
            <a:solidFill>
              <a:srgbClr val="C8A02C"/>
            </a:solidFill>
            <a:prstDash val="solid"/>
          </a:ln>
        </p:spPr>
        <p:txBody>
          <a:bodyPr wrap="square"/>
          <a:p/>
        </p:txBody>
      </p:sp>
      <p:sp>
        <p:nvSpPr>
          <p:cNvPr id="12" name="Shape 10"/>
          <p:cNvSpPr/>
          <p:nvPr/>
        </p:nvSpPr>
        <p:spPr>
          <a:xfrm>
            <a:off x="6327648" y="169164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1B2A55"/>
          </a:solidFill>
          <a:ln w="12700">
            <a:solidFill>
              <a:srgbClr val="1B2A55"/>
            </a:solidFill>
            <a:prstDash val="solid"/>
          </a:ln>
        </p:spPr>
        <p:txBody>
          <a:bodyPr wrap="square"/>
          <a:p/>
        </p:txBody>
      </p:sp>
      <p:sp>
        <p:nvSpPr>
          <p:cNvPr id="13" name="Text 11"/>
          <p:cNvSpPr txBox="1"/>
          <p:nvPr/>
        </p:nvSpPr>
        <p:spPr>
          <a:xfrm>
            <a:off x="6464808" y="1920240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2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MODULE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64808" y="2286000"/>
            <a:ext cx="22860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IN" sz="1200">
                <a:solidFill>
                  <a:schemeClr val="bg2"/>
                </a:solidFill>
                <a:latin typeface="Aptos"/>
              </a:rPr>
              <a:t>C</a:t>
            </a:r>
            <a:r>
              <a:rPr sz="1200">
                <a:solidFill>
                  <a:schemeClr val="bg2"/>
                </a:solidFill>
                <a:latin typeface="Aptos"/>
              </a:rPr>
              <a:t>ontent-based:</a:t>
            </a:r>
            <a:endParaRPr sz="1200">
              <a:solidFill>
                <a:schemeClr val="bg2"/>
              </a:solidFill>
              <a:latin typeface="Aptos"/>
            </a:endParaRPr>
          </a:p>
          <a:p>
            <a:r>
              <a:rPr sz="1200">
                <a:solidFill>
                  <a:schemeClr val="bg2"/>
                </a:solidFill>
                <a:latin typeface="Aptos"/>
              </a:rPr>
              <a:t>TF-IDF + cosine similarity</a:t>
            </a:r>
            <a:endParaRPr sz="1200">
              <a:solidFill>
                <a:schemeClr val="bg2"/>
              </a:solidFill>
              <a:latin typeface="Aptos"/>
            </a:endParaRPr>
          </a:p>
          <a:p>
            <a:endParaRPr sz="1200">
              <a:solidFill>
                <a:schemeClr val="bg2"/>
              </a:solidFill>
            </a:endParaRPr>
          </a:p>
          <a:p>
            <a:r>
              <a:rPr sz="1200">
                <a:solidFill>
                  <a:schemeClr val="bg2"/>
                </a:solidFill>
                <a:latin typeface="Aptos"/>
              </a:rPr>
              <a:t>Collaborative:</a:t>
            </a:r>
            <a:endParaRPr sz="1200">
              <a:solidFill>
                <a:schemeClr val="bg2"/>
              </a:solidFill>
              <a:latin typeface="Aptos"/>
            </a:endParaRPr>
          </a:p>
          <a:p>
            <a:r>
              <a:rPr sz="1200">
                <a:solidFill>
                  <a:schemeClr val="bg2"/>
                </a:solidFill>
                <a:latin typeface="Aptos"/>
              </a:rPr>
              <a:t>Users with high ratings → other rated movies</a:t>
            </a:r>
            <a:endParaRPr sz="1200">
              <a:solidFill>
                <a:schemeClr val="bg2"/>
              </a:solidFill>
              <a:latin typeface="Apto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961120" y="2404872"/>
            <a:ext cx="201168" cy="310896"/>
          </a:xfrm>
          <a:prstGeom prst="rightArrow">
            <a:avLst/>
          </a:prstGeom>
          <a:solidFill>
            <a:srgbClr val="C8A02C"/>
          </a:solidFill>
          <a:ln w="12700">
            <a:solidFill>
              <a:srgbClr val="C8A02C"/>
            </a:solidFill>
            <a:prstDash val="solid"/>
          </a:ln>
        </p:spPr>
        <p:txBody>
          <a:bodyPr wrap="square"/>
          <a:p/>
        </p:txBody>
      </p:sp>
      <p:sp>
        <p:nvSpPr>
          <p:cNvPr id="16" name="Shape 14"/>
          <p:cNvSpPr/>
          <p:nvPr/>
        </p:nvSpPr>
        <p:spPr>
          <a:xfrm>
            <a:off x="9217152" y="169164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 wrap="square"/>
          <a:p/>
        </p:txBody>
      </p:sp>
      <p:sp>
        <p:nvSpPr>
          <p:cNvPr id="17" name="Text 15"/>
          <p:cNvSpPr txBox="1"/>
          <p:nvPr/>
        </p:nvSpPr>
        <p:spPr>
          <a:xfrm>
            <a:off x="9354312" y="1920240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20" dirty="0">
                <a:solidFill>
                  <a:srgbClr val="1B2A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354312" y="2286000"/>
            <a:ext cx="22860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1200">
                <a:latin typeface="Aptos"/>
              </a:rPr>
              <a:t>Streamlit UI</a:t>
            </a:r>
            <a:endParaRPr sz="1200">
              <a:latin typeface="Aptos"/>
            </a:endParaRPr>
          </a:p>
          <a:p>
            <a:r>
              <a:rPr sz="1200">
                <a:latin typeface="Aptos"/>
              </a:rPr>
              <a:t>User selects method and movie</a:t>
            </a:r>
            <a:endParaRPr sz="1200">
              <a:latin typeface="Aptos"/>
            </a:endParaRPr>
          </a:p>
          <a:p>
            <a:r>
              <a:rPr sz="1200">
                <a:latin typeface="Aptos"/>
              </a:rPr>
              <a:t>Top-five recommendations (when data supports them)</a:t>
            </a:r>
            <a:endParaRPr sz="1200">
              <a:latin typeface="Apto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48640" y="3749040"/>
            <a:ext cx="73152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9AA5B8"/>
            </a:solidFill>
            <a:prstDash val="dash"/>
          </a:ln>
        </p:spPr>
        <p:txBody>
          <a:bodyPr wrap="square"/>
          <a:p/>
        </p:txBody>
      </p:sp>
      <p:sp>
        <p:nvSpPr>
          <p:cNvPr id="20" name="Text 18"/>
          <p:cNvSpPr txBox="1"/>
          <p:nvPr/>
        </p:nvSpPr>
        <p:spPr>
          <a:xfrm>
            <a:off x="685800" y="3749040"/>
            <a:ext cx="7040880" cy="2103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1300" b="1">
                <a:latin typeface="Aptos"/>
              </a:rPr>
              <a:t>Data flow: TMDB / MovieLens CSVs → preprocessing → selected recommendation function → Streamlit results</a:t>
            </a:r>
            <a:endParaRPr sz="1300" b="1">
              <a:latin typeface="Apto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092440" y="374904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DF6E6"/>
          </a:solidFill>
          <a:ln w="12700">
            <a:solidFill>
              <a:srgbClr val="DDE3EC"/>
            </a:solidFill>
            <a:prstDash val="solid"/>
          </a:ln>
        </p:spPr>
        <p:txBody>
          <a:bodyPr wrap="square"/>
          <a:p/>
        </p:txBody>
      </p:sp>
      <p:sp>
        <p:nvSpPr>
          <p:cNvPr id="22" name="Text 20"/>
          <p:cNvSpPr txBox="1"/>
          <p:nvPr/>
        </p:nvSpPr>
        <p:spPr>
          <a:xfrm>
            <a:off x="8321040" y="3931920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A416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Label every arrow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4251960"/>
            <a:ext cx="306324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1000">
                <a:latin typeface="Aptos"/>
              </a:rPr>
              <a:t>The two models are selectable alternatives; the current prototype does not combine their scores into a single hybrid ranking.</a:t>
            </a:r>
            <a:endParaRPr sz="1000">
              <a:latin typeface="Aptos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900">
                <a:latin typeface="Aptos"/>
              </a:rPr>
              <a:t>Dept. of CSE  |  KLH Bachupally Campus</a:t>
            </a:r>
            <a:endParaRPr sz="900">
              <a:latin typeface="Aptos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7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Methodology &amp; Modules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 wrap="square"/>
          <a:p/>
        </p:txBody>
      </p:sp>
      <p:sp>
        <p:nvSpPr>
          <p:cNvPr id="5" name="Shape 3"/>
          <p:cNvSpPr/>
          <p:nvPr/>
        </p:nvSpPr>
        <p:spPr>
          <a:xfrm>
            <a:off x="822960" y="1737360"/>
            <a:ext cx="411480" cy="411480"/>
          </a:xfrm>
          <a:prstGeom prst="ellipse">
            <a:avLst/>
          </a:prstGeom>
          <a:solidFill>
            <a:srgbClr val="1B2A55"/>
          </a:solidFill>
        </p:spPr>
        <p:txBody>
          <a:bodyPr wrap="square"/>
          <a:p/>
        </p:txBody>
      </p:sp>
      <p:sp>
        <p:nvSpPr>
          <p:cNvPr id="6" name="Text 4"/>
          <p:cNvSpPr txBox="1"/>
          <p:nvPr/>
        </p:nvSpPr>
        <p:spPr>
          <a:xfrm>
            <a:off x="822960" y="173736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755648"/>
            <a:ext cx="42062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Module 1 - Data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31720"/>
            <a:ext cx="4800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1200">
                <a:latin typeface="Aptos"/>
              </a:rPr>
              <a:t>TMDB 5000 movies and credits CSVs; MovieLens latest-small movies and ratings CSVs. Data is loaded locally.</a:t>
            </a:r>
            <a:endParaRPr sz="1200">
              <a:latin typeface="Apto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 wrap="square"/>
          <a:p/>
        </p:txBody>
      </p:sp>
      <p:sp>
        <p:nvSpPr>
          <p:cNvPr id="10" name="Shape 8"/>
          <p:cNvSpPr/>
          <p:nvPr/>
        </p:nvSpPr>
        <p:spPr>
          <a:xfrm>
            <a:off x="6492240" y="1737360"/>
            <a:ext cx="411480" cy="411480"/>
          </a:xfrm>
          <a:prstGeom prst="ellipse">
            <a:avLst/>
          </a:prstGeom>
          <a:solidFill>
            <a:srgbClr val="1B2A55"/>
          </a:solidFill>
        </p:spPr>
        <p:txBody>
          <a:bodyPr wrap="square"/>
          <a:p/>
        </p:txBody>
      </p:sp>
      <p:sp>
        <p:nvSpPr>
          <p:cNvPr id="11" name="Text 9"/>
          <p:cNvSpPr txBox="1"/>
          <p:nvPr/>
        </p:nvSpPr>
        <p:spPr>
          <a:xfrm>
            <a:off x="6492240" y="173736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1755648"/>
            <a:ext cx="42062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Module 2 - Processing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331720"/>
            <a:ext cx="4800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1200">
                <a:latin typeface="Aptos"/>
              </a:rPr>
              <a:t>Parse JSON-like metadata fields; fill missing plot overviews; combine genres, keywords, cast and overview into one text field.</a:t>
            </a:r>
            <a:endParaRPr sz="1200">
              <a:latin typeface="Apto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370332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 wrap="square"/>
          <a:p/>
        </p:txBody>
      </p:sp>
      <p:sp>
        <p:nvSpPr>
          <p:cNvPr id="15" name="Shape 13"/>
          <p:cNvSpPr/>
          <p:nvPr/>
        </p:nvSpPr>
        <p:spPr>
          <a:xfrm>
            <a:off x="822960" y="3977640"/>
            <a:ext cx="411480" cy="411480"/>
          </a:xfrm>
          <a:prstGeom prst="ellipse">
            <a:avLst/>
          </a:prstGeom>
          <a:solidFill>
            <a:srgbClr val="1B2A55"/>
          </a:solidFill>
        </p:spPr>
        <p:txBody>
          <a:bodyPr wrap="square"/>
          <a:p/>
        </p:txBody>
      </p:sp>
      <p:sp>
        <p:nvSpPr>
          <p:cNvPr id="16" name="Text 14"/>
          <p:cNvSpPr txBox="1"/>
          <p:nvPr/>
        </p:nvSpPr>
        <p:spPr>
          <a:xfrm>
            <a:off x="822960" y="397764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3995928"/>
            <a:ext cx="42062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Module 3 - Core Logic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572000"/>
            <a:ext cx="4800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1100">
                <a:latin typeface="Aptos"/>
              </a:rPr>
              <a:t>Content-based: TF-IDF with cosine similarity. Collaborative baseline: find users who rated the selected movie ≥4, then rank other movies they rated by mean rating and count.</a:t>
            </a:r>
            <a:endParaRPr sz="1100">
              <a:latin typeface="Apto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217920" y="370332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 wrap="square"/>
          <a:p/>
        </p:txBody>
      </p:sp>
      <p:sp>
        <p:nvSpPr>
          <p:cNvPr id="20" name="Shape 18"/>
          <p:cNvSpPr/>
          <p:nvPr/>
        </p:nvSpPr>
        <p:spPr>
          <a:xfrm>
            <a:off x="6492240" y="3977640"/>
            <a:ext cx="411480" cy="411480"/>
          </a:xfrm>
          <a:prstGeom prst="ellipse">
            <a:avLst/>
          </a:prstGeom>
          <a:solidFill>
            <a:srgbClr val="1B2A55"/>
          </a:solidFill>
        </p:spPr>
        <p:txBody>
          <a:bodyPr wrap="square"/>
          <a:p/>
        </p:txBody>
      </p:sp>
      <p:sp>
        <p:nvSpPr>
          <p:cNvPr id="21" name="Text 19"/>
          <p:cNvSpPr txBox="1"/>
          <p:nvPr/>
        </p:nvSpPr>
        <p:spPr>
          <a:xfrm>
            <a:off x="6492240" y="397764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3995928"/>
            <a:ext cx="42062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Module 4 - Interface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4572000"/>
            <a:ext cx="4800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1200">
                <a:latin typeface="Aptos"/>
              </a:rPr>
              <a:t>Python modules are called by a Streamlit interface. Users choose a method and title; the app displays up to five recommendations.</a:t>
            </a:r>
            <a:endParaRPr sz="1200">
              <a:latin typeface="Aptos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900">
                <a:latin typeface="Aptos"/>
              </a:rPr>
              <a:t>Dept. of CSE  |  KLH Bachupally Campus</a:t>
            </a:r>
            <a:endParaRPr sz="900">
              <a:latin typeface="Aptos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8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Tools and Technologies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 wrap="square"/>
          <a:p/>
        </p:txBody>
      </p:sp>
      <p:sp>
        <p:nvSpPr>
          <p:cNvPr id="5" name="Text 3"/>
          <p:cNvSpPr txBox="1"/>
          <p:nvPr/>
        </p:nvSpPr>
        <p:spPr>
          <a:xfrm>
            <a:off x="868680" y="1691640"/>
            <a:ext cx="4709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8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SOFTWARE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03120"/>
            <a:ext cx="4709160" cy="320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1300">
                <a:latin typeface="Aptos"/>
              </a:rPr>
              <a:t>Language: Python  |  Libraries: pandas, NumPy, scikit-learn, Streamlit</a:t>
            </a:r>
            <a:endParaRPr sz="1300">
              <a:latin typeface="Aptos"/>
            </a:endParaRPr>
          </a:p>
          <a:p>
            <a:r>
              <a:rPr sz="1300">
                <a:latin typeface="Aptos"/>
              </a:rPr>
              <a:t>Content model: TfidfVectorizer, cosine_similarity</a:t>
            </a:r>
            <a:endParaRPr sz="1300">
              <a:latin typeface="Aptos"/>
            </a:endParaRPr>
          </a:p>
          <a:p>
            <a:r>
              <a:rPr sz="1300">
                <a:latin typeface="Aptos"/>
              </a:rPr>
              <a:t>Interface: Streamlit</a:t>
            </a:r>
            <a:endParaRPr sz="1300">
              <a:latin typeface="Aptos"/>
            </a:endParaRPr>
          </a:p>
          <a:p>
            <a:r>
              <a:rPr sz="1300">
                <a:latin typeface="Aptos"/>
              </a:rPr>
              <a:t>Data: CSV files (TMDB and MovieLens)</a:t>
            </a:r>
            <a:endParaRPr sz="1300">
              <a:latin typeface="Aptos"/>
            </a:endParaRPr>
          </a:p>
          <a:p>
            <a:r>
              <a:rPr sz="1300">
                <a:latin typeface="Aptos"/>
              </a:rPr>
              <a:t>IDE: Visual Studio Code</a:t>
            </a:r>
            <a:endParaRPr sz="1300">
              <a:latin typeface="Apto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 wrap="square"/>
          <a:p/>
        </p:txBody>
      </p:sp>
      <p:sp>
        <p:nvSpPr>
          <p:cNvPr id="8" name="Text 6"/>
          <p:cNvSpPr txBox="1"/>
          <p:nvPr/>
        </p:nvSpPr>
        <p:spPr>
          <a:xfrm>
            <a:off x="6537960" y="1691640"/>
            <a:ext cx="4709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8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HARDWARE / PLATFORM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103120"/>
            <a:ext cx="4709160" cy="320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1300">
                <a:latin typeface="Aptos"/>
              </a:rPr>
              <a:t>Platform: local Windows laptop</a:t>
            </a:r>
            <a:endParaRPr sz="1300">
              <a:latin typeface="Aptos"/>
            </a:endParaRPr>
          </a:p>
          <a:p>
            <a:r>
              <a:rPr sz="1300">
                <a:latin typeface="Aptos"/>
              </a:rPr>
              <a:t>Python environment: virtual environment (.venv)</a:t>
            </a:r>
            <a:endParaRPr sz="1300">
              <a:latin typeface="Aptos"/>
            </a:endParaRPr>
          </a:p>
          <a:p>
            <a:r>
              <a:rPr sz="1300">
                <a:latin typeface="Aptos"/>
              </a:rPr>
              <a:t>GPU / sensors: not required</a:t>
            </a:r>
            <a:endParaRPr sz="1300">
              <a:latin typeface="Aptos"/>
            </a:endParaRPr>
          </a:p>
          <a:p>
            <a:r>
              <a:rPr sz="1300">
                <a:latin typeface="Aptos"/>
              </a:rPr>
              <a:t>Deployment: local Streamlit server (localhost)</a:t>
            </a:r>
            <a:endParaRPr sz="1300">
              <a:latin typeface="Aptos"/>
            </a:endParaRPr>
          </a:p>
          <a:p>
            <a:r>
              <a:rPr sz="1300">
                <a:latin typeface="Aptos"/>
              </a:rPr>
              <a:t>Version control: GitHub repository link to be added if used</a:t>
            </a:r>
            <a:endParaRPr sz="1300">
              <a:latin typeface="Aptos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900">
                <a:latin typeface="Aptos"/>
              </a:rPr>
              <a:t>Dept. of CSE  |  KLH Bachupally Campus</a:t>
            </a:r>
            <a:endParaRPr sz="900">
              <a:latin typeface="Aptos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9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Work Completed / Demo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852160" cy="566928"/>
          </a:xfrm>
          <a:prstGeom prst="roundRect">
            <a:avLst>
              <a:gd name="adj" fmla="val 12903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 wrap="square"/>
          <a:p/>
        </p:txBody>
      </p:sp>
      <p:sp>
        <p:nvSpPr>
          <p:cNvPr id="5" name="Shape 3"/>
          <p:cNvSpPr/>
          <p:nvPr/>
        </p:nvSpPr>
        <p:spPr>
          <a:xfrm>
            <a:off x="777240" y="1655064"/>
            <a:ext cx="182880" cy="182880"/>
          </a:xfrm>
          <a:prstGeom prst="ellipse">
            <a:avLst/>
          </a:prstGeom>
          <a:solidFill>
            <a:srgbClr val="1E7A46"/>
          </a:solidFill>
        </p:spPr>
        <p:txBody>
          <a:bodyPr wrap="square"/>
          <a:p/>
        </p:txBody>
      </p:sp>
      <p:sp>
        <p:nvSpPr>
          <p:cNvPr id="6" name="Text 4"/>
          <p:cNvSpPr txBox="1"/>
          <p:nvPr/>
        </p:nvSpPr>
        <p:spPr>
          <a:xfrm>
            <a:off x="1097280" y="1463040"/>
            <a:ext cx="32918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1100">
                <a:latin typeface="Aptos"/>
              </a:rPr>
              <a:t>Dataset collection and loading</a:t>
            </a:r>
            <a:endParaRPr sz="1100">
              <a:latin typeface="Apto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4480560" y="1463040"/>
            <a:ext cx="1691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1100">
                <a:latin typeface="Aptos"/>
              </a:rPr>
              <a:t>Completed</a:t>
            </a:r>
            <a:endParaRPr sz="1100">
              <a:latin typeface="Apto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2176272"/>
            <a:ext cx="5852160" cy="566928"/>
          </a:xfrm>
          <a:prstGeom prst="roundRect">
            <a:avLst>
              <a:gd name="adj" fmla="val 12903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 wrap="square"/>
          <a:p/>
        </p:txBody>
      </p:sp>
      <p:sp>
        <p:nvSpPr>
          <p:cNvPr id="9" name="Shape 7"/>
          <p:cNvSpPr/>
          <p:nvPr/>
        </p:nvSpPr>
        <p:spPr>
          <a:xfrm>
            <a:off x="777240" y="2368296"/>
            <a:ext cx="182880" cy="182880"/>
          </a:xfrm>
          <a:prstGeom prst="ellipse">
            <a:avLst/>
          </a:prstGeom>
          <a:solidFill>
            <a:srgbClr val="1E7A46"/>
          </a:solidFill>
        </p:spPr>
        <p:txBody>
          <a:bodyPr wrap="square"/>
          <a:p/>
        </p:txBody>
      </p:sp>
      <p:sp>
        <p:nvSpPr>
          <p:cNvPr id="10" name="Text 8"/>
          <p:cNvSpPr txBox="1"/>
          <p:nvPr/>
        </p:nvSpPr>
        <p:spPr>
          <a:xfrm>
            <a:off x="1097280" y="2176272"/>
            <a:ext cx="32918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1100">
                <a:latin typeface="Aptos"/>
              </a:rPr>
              <a:t>Metadata cleaning and feature extraction</a:t>
            </a:r>
            <a:endParaRPr sz="1100">
              <a:latin typeface="Aptos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4480560" y="2176272"/>
            <a:ext cx="1691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1100">
                <a:latin typeface="Aptos"/>
              </a:rPr>
              <a:t>Completed</a:t>
            </a:r>
            <a:endParaRPr sz="1100">
              <a:latin typeface="Apto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2889504"/>
            <a:ext cx="5852160" cy="566928"/>
          </a:xfrm>
          <a:prstGeom prst="roundRect">
            <a:avLst>
              <a:gd name="adj" fmla="val 12903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 wrap="square"/>
          <a:p/>
        </p:txBody>
      </p:sp>
      <p:sp>
        <p:nvSpPr>
          <p:cNvPr id="13" name="Shape 11"/>
          <p:cNvSpPr/>
          <p:nvPr/>
        </p:nvSpPr>
        <p:spPr>
          <a:xfrm>
            <a:off x="777240" y="3081528"/>
            <a:ext cx="182880" cy="182880"/>
          </a:xfrm>
          <a:prstGeom prst="ellipse">
            <a:avLst/>
          </a:prstGeom>
          <a:solidFill>
            <a:srgbClr val="C8A02C"/>
          </a:solidFill>
        </p:spPr>
        <p:txBody>
          <a:bodyPr wrap="square"/>
          <a:p/>
        </p:txBody>
      </p:sp>
      <p:sp>
        <p:nvSpPr>
          <p:cNvPr id="14" name="Text 12"/>
          <p:cNvSpPr txBox="1"/>
          <p:nvPr/>
        </p:nvSpPr>
        <p:spPr>
          <a:xfrm>
            <a:off x="1097280" y="2889504"/>
            <a:ext cx="32918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1100">
                <a:latin typeface="Aptos"/>
              </a:rPr>
              <a:t>TF-IDF and cosine similarity model</a:t>
            </a:r>
            <a:endParaRPr sz="1100">
              <a:latin typeface="Aptos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4480560" y="2889504"/>
            <a:ext cx="1691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1100">
                <a:latin typeface="Aptos"/>
              </a:rPr>
              <a:t>Completed</a:t>
            </a:r>
            <a:endParaRPr sz="1100">
              <a:latin typeface="Apto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48640" y="3602736"/>
            <a:ext cx="5852160" cy="566928"/>
          </a:xfrm>
          <a:prstGeom prst="roundRect">
            <a:avLst>
              <a:gd name="adj" fmla="val 12903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 wrap="square"/>
          <a:p/>
        </p:txBody>
      </p:sp>
      <p:sp>
        <p:nvSpPr>
          <p:cNvPr id="17" name="Shape 15"/>
          <p:cNvSpPr/>
          <p:nvPr/>
        </p:nvSpPr>
        <p:spPr>
          <a:xfrm>
            <a:off x="777240" y="3794760"/>
            <a:ext cx="182880" cy="182880"/>
          </a:xfrm>
          <a:prstGeom prst="ellipse">
            <a:avLst/>
          </a:prstGeom>
          <a:solidFill>
            <a:srgbClr val="C8A02C"/>
          </a:solidFill>
        </p:spPr>
        <p:txBody>
          <a:bodyPr wrap="square"/>
          <a:p/>
        </p:txBody>
      </p:sp>
      <p:sp>
        <p:nvSpPr>
          <p:cNvPr id="18" name="Text 16"/>
          <p:cNvSpPr txBox="1"/>
          <p:nvPr/>
        </p:nvSpPr>
        <p:spPr>
          <a:xfrm>
            <a:off x="1097280" y="3602736"/>
            <a:ext cx="32918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1100">
                <a:latin typeface="Aptos"/>
              </a:rPr>
              <a:t>Collaborative filtering baseline</a:t>
            </a:r>
            <a:endParaRPr sz="1100">
              <a:latin typeface="Aptos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4480560" y="3602736"/>
            <a:ext cx="1691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1100">
                <a:latin typeface="Aptos"/>
              </a:rPr>
              <a:t>Implemented; quality varies by movie</a:t>
            </a:r>
            <a:endParaRPr sz="1100">
              <a:latin typeface="Apto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48640" y="4315968"/>
            <a:ext cx="5852160" cy="566928"/>
          </a:xfrm>
          <a:prstGeom prst="roundRect">
            <a:avLst>
              <a:gd name="adj" fmla="val 12903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 wrap="square"/>
          <a:p/>
        </p:txBody>
      </p:sp>
      <p:sp>
        <p:nvSpPr>
          <p:cNvPr id="21" name="Shape 19"/>
          <p:cNvSpPr/>
          <p:nvPr/>
        </p:nvSpPr>
        <p:spPr>
          <a:xfrm>
            <a:off x="777240" y="4507992"/>
            <a:ext cx="182880" cy="182880"/>
          </a:xfrm>
          <a:prstGeom prst="ellipse">
            <a:avLst/>
          </a:prstGeom>
          <a:solidFill>
            <a:srgbClr val="6B7280"/>
          </a:solidFill>
        </p:spPr>
        <p:txBody>
          <a:bodyPr wrap="square"/>
          <a:p/>
        </p:txBody>
      </p:sp>
      <p:sp>
        <p:nvSpPr>
          <p:cNvPr id="22" name="Text 20"/>
          <p:cNvSpPr txBox="1"/>
          <p:nvPr/>
        </p:nvSpPr>
        <p:spPr>
          <a:xfrm>
            <a:off x="1097280" y="4315968"/>
            <a:ext cx="32918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1100">
                <a:latin typeface="Aptos"/>
              </a:rPr>
              <a:t>Streamlit interface and method selection</a:t>
            </a:r>
            <a:endParaRPr sz="1100">
              <a:latin typeface="Aptos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4480560" y="4315968"/>
            <a:ext cx="1691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1100">
                <a:latin typeface="Aptos"/>
              </a:rPr>
              <a:t>Completed</a:t>
            </a:r>
            <a:endParaRPr sz="1100">
              <a:latin typeface="Apto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48640" y="5029200"/>
            <a:ext cx="5852160" cy="566928"/>
          </a:xfrm>
          <a:prstGeom prst="roundRect">
            <a:avLst>
              <a:gd name="adj" fmla="val 12903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 wrap="square"/>
          <a:p/>
        </p:txBody>
      </p:sp>
      <p:sp>
        <p:nvSpPr>
          <p:cNvPr id="25" name="Shape 23"/>
          <p:cNvSpPr/>
          <p:nvPr/>
        </p:nvSpPr>
        <p:spPr>
          <a:xfrm>
            <a:off x="777240" y="5221224"/>
            <a:ext cx="182880" cy="182880"/>
          </a:xfrm>
          <a:prstGeom prst="ellipse">
            <a:avLst/>
          </a:prstGeom>
          <a:solidFill>
            <a:srgbClr val="6B7280"/>
          </a:solidFill>
        </p:spPr>
        <p:txBody>
          <a:bodyPr wrap="square"/>
          <a:p/>
        </p:txBody>
      </p:sp>
      <p:sp>
        <p:nvSpPr>
          <p:cNvPr id="26" name="Text 24"/>
          <p:cNvSpPr txBox="1"/>
          <p:nvPr/>
        </p:nvSpPr>
        <p:spPr>
          <a:xfrm>
            <a:off x="1097280" y="5029200"/>
            <a:ext cx="32918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1100">
                <a:latin typeface="Aptos"/>
              </a:rPr>
              <a:t>Manual smoke tests on sample movies</a:t>
            </a:r>
            <a:endParaRPr sz="1100">
              <a:latin typeface="Aptos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4480560" y="5029200"/>
            <a:ext cx="1691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1100">
                <a:latin typeface="Aptos"/>
              </a:rPr>
              <a:t>Completed; formal metrics pending</a:t>
            </a:r>
            <a:endParaRPr sz="1100">
              <a:latin typeface="Apto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675120" y="1463040"/>
            <a:ext cx="493776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9AA5B8"/>
            </a:solidFill>
            <a:prstDash val="dash"/>
          </a:ln>
        </p:spPr>
        <p:txBody>
          <a:bodyPr wrap="square"/>
          <a:p/>
        </p:txBody>
      </p:sp>
      <p:sp>
        <p:nvSpPr>
          <p:cNvPr id="29" name="Text 27"/>
          <p:cNvSpPr txBox="1"/>
          <p:nvPr/>
        </p:nvSpPr>
        <p:spPr>
          <a:xfrm>
            <a:off x="6812280" y="1463040"/>
            <a:ext cx="4663440" cy="3246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1200">
                <a:latin typeface="Aptos"/>
              </a:rPr>
              <a:t>Demo evidence: Streamlit interface tested with Avatar (content-based) and Toy Story (1995) (collaborative). Some selected movies may have no collaborative results because rating coverage is limited.</a:t>
            </a:r>
            <a:endParaRPr sz="1200">
              <a:latin typeface="Apto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675120" y="4892040"/>
            <a:ext cx="4937760" cy="1005840"/>
          </a:xfrm>
          <a:prstGeom prst="roundRect">
            <a:avLst>
              <a:gd name="adj" fmla="val 7273"/>
            </a:avLst>
          </a:prstGeom>
          <a:solidFill>
            <a:srgbClr val="FDF6E6"/>
          </a:solidFill>
          <a:ln w="12700">
            <a:solidFill>
              <a:srgbClr val="DDE3EC"/>
            </a:solidFill>
            <a:prstDash val="solid"/>
          </a:ln>
        </p:spPr>
        <p:txBody>
          <a:bodyPr wrap="square"/>
          <a:p/>
        </p:txBody>
      </p:sp>
      <p:sp>
        <p:nvSpPr>
          <p:cNvPr id="31" name="Text 29"/>
          <p:cNvSpPr txBox="1"/>
          <p:nvPr/>
        </p:nvSpPr>
        <p:spPr>
          <a:xfrm>
            <a:off x="6903720" y="5039995"/>
            <a:ext cx="44805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900">
                <a:latin typeface="Aptos"/>
              </a:rPr>
              <a:t>Current demo proves execution, not benchmark accuracy. Add a screenshot of the live interface if the review requires visual evidence.</a:t>
            </a:r>
            <a:endParaRPr sz="900">
              <a:latin typeface="Aptos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1100">
                <a:latin typeface="Aptos"/>
              </a:rPr>
              <a:t>Dept. of CSE  |  KLH Bachupally Campus</a:t>
            </a:r>
            <a:endParaRPr sz="1100">
              <a:latin typeface="Aptos"/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950" dirty="0"/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361440"/>
            <a:ext cx="4937125" cy="342328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10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Timeline &amp; Review Plan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645920" y="2880360"/>
            <a:ext cx="8915400" cy="0"/>
          </a:xfrm>
          <a:prstGeom prst="line">
            <a:avLst/>
          </a:prstGeom>
          <a:noFill/>
          <a:ln w="38100">
            <a:solidFill>
              <a:srgbClr val="DDE3EC"/>
            </a:solidFill>
            <a:prstDash val="solid"/>
          </a:ln>
        </p:spPr>
        <p:txBody>
          <a:bodyPr wrap="square"/>
          <a:p/>
        </p:txBody>
      </p:sp>
      <p:sp>
        <p:nvSpPr>
          <p:cNvPr id="5" name="Shape 3"/>
          <p:cNvSpPr/>
          <p:nvPr/>
        </p:nvSpPr>
        <p:spPr>
          <a:xfrm>
            <a:off x="1444752" y="2679192"/>
            <a:ext cx="402336" cy="402336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olid"/>
          </a:ln>
        </p:spPr>
        <p:txBody>
          <a:bodyPr wrap="square"/>
          <a:p/>
        </p:txBody>
      </p:sp>
      <p:sp>
        <p:nvSpPr>
          <p:cNvPr id="6" name="Text 4"/>
          <p:cNvSpPr txBox="1"/>
          <p:nvPr/>
        </p:nvSpPr>
        <p:spPr>
          <a:xfrm>
            <a:off x="457200" y="214884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Review 0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20040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1200">
                <a:latin typeface="Aptos"/>
              </a:rPr>
              <a:t>Completed</a:t>
            </a:r>
            <a:endParaRPr sz="1200">
              <a:latin typeface="Apto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320040" y="3520440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1100">
                <a:latin typeface="Aptos"/>
              </a:rPr>
              <a:t>Project title, scope and team roles established</a:t>
            </a:r>
            <a:endParaRPr sz="1100">
              <a:latin typeface="Apto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416552" y="2679192"/>
            <a:ext cx="402336" cy="402336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/>
          <a:p/>
        </p:txBody>
      </p:sp>
      <p:sp>
        <p:nvSpPr>
          <p:cNvPr id="10" name="Text 8"/>
          <p:cNvSpPr txBox="1"/>
          <p:nvPr/>
        </p:nvSpPr>
        <p:spPr>
          <a:xfrm>
            <a:off x="3429000" y="214884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Review 1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320040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1200">
                <a:latin typeface="Aptos"/>
              </a:rPr>
              <a:t>Completed</a:t>
            </a:r>
            <a:endParaRPr sz="1200">
              <a:latin typeface="Apto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3291840" y="3520440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1100">
                <a:latin typeface="Aptos"/>
              </a:rPr>
              <a:t>Datasets, literature background, objectives and architecture prepared</a:t>
            </a:r>
            <a:endParaRPr sz="1100">
              <a:latin typeface="Apto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388352" y="267919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9AA5B8"/>
            </a:solidFill>
            <a:prstDash val="solid"/>
          </a:ln>
        </p:spPr>
        <p:txBody>
          <a:bodyPr wrap="square"/>
          <a:p/>
        </p:txBody>
      </p:sp>
      <p:sp>
        <p:nvSpPr>
          <p:cNvPr id="14" name="Text 12"/>
          <p:cNvSpPr txBox="1"/>
          <p:nvPr/>
        </p:nvSpPr>
        <p:spPr>
          <a:xfrm>
            <a:off x="6400800" y="214884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Review 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320040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1200">
                <a:latin typeface="Aptos"/>
              </a:rPr>
              <a:t>Current phase</a:t>
            </a:r>
            <a:endParaRPr sz="1200">
              <a:latin typeface="Aptos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6263640" y="3520440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1100">
                <a:latin typeface="Aptos"/>
              </a:rPr>
              <a:t>Prototype implemented; testing and quality improvements ongoing</a:t>
            </a:r>
            <a:endParaRPr sz="1100">
              <a:latin typeface="Apto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0360152" y="267919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9AA5B8"/>
            </a:solidFill>
            <a:prstDash val="solid"/>
          </a:ln>
        </p:spPr>
        <p:txBody>
          <a:bodyPr wrap="square"/>
          <a:p/>
        </p:txBody>
      </p:sp>
      <p:sp>
        <p:nvSpPr>
          <p:cNvPr id="18" name="Text 16"/>
          <p:cNvSpPr txBox="1"/>
          <p:nvPr/>
        </p:nvSpPr>
        <p:spPr>
          <a:xfrm>
            <a:off x="9372600" y="214884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372600" y="320040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1200">
                <a:latin typeface="Aptos"/>
              </a:rPr>
              <a:t>Next</a:t>
            </a:r>
            <a:endParaRPr sz="1200">
              <a:latin typeface="Aptos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9235440" y="3520440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1100">
                <a:latin typeface="Aptos"/>
              </a:rPr>
              <a:t>Validate on both team laptops; finish report, presentation and repository handover</a:t>
            </a:r>
            <a:endParaRPr sz="1100">
              <a:latin typeface="Aptos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548640" y="4434840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900">
                <a:latin typeface="Aptos"/>
              </a:rPr>
              <a:t>Update this timeline to match the actual departmental review dates.</a:t>
            </a:r>
            <a:endParaRPr sz="900">
              <a:latin typeface="Apto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48640" y="49377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DF6E6"/>
          </a:solidFill>
          <a:ln w="12700">
            <a:solidFill>
              <a:srgbClr val="DDE3EC"/>
            </a:solidFill>
            <a:prstDash val="solid"/>
          </a:ln>
        </p:spPr>
        <p:txBody>
          <a:bodyPr wrap="square"/>
          <a:p/>
        </p:txBody>
      </p:sp>
      <p:sp>
        <p:nvSpPr>
          <p:cNvPr id="23" name="Text 21"/>
          <p:cNvSpPr txBox="1"/>
          <p:nvPr/>
        </p:nvSpPr>
        <p:spPr>
          <a:xfrm>
            <a:off x="868680" y="4937760"/>
            <a:ext cx="1042416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1000">
                <a:latin typeface="Aptos"/>
              </a:rPr>
              <a:t>Remaining priorities: test reproducibility, describe limitations honestly, and complete the final report and demo.</a:t>
            </a:r>
            <a:endParaRPr sz="1000">
              <a:latin typeface="Aptos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900">
                <a:latin typeface="Aptos"/>
              </a:rPr>
              <a:t>Dept. of CSE  |  KLH Bachupally Campus</a:t>
            </a:r>
            <a:endParaRPr sz="900">
              <a:latin typeface="Aptos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11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Expected Outcome &amp; Conclusion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 wrap="square"/>
          <a:p/>
        </p:txBody>
      </p:sp>
      <p:sp>
        <p:nvSpPr>
          <p:cNvPr id="5" name="Text 3"/>
          <p:cNvSpPr txBox="1"/>
          <p:nvPr/>
        </p:nvSpPr>
        <p:spPr>
          <a:xfrm>
            <a:off x="822960" y="1691640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A416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DELIVERABLE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57400"/>
            <a:ext cx="29718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1300">
                <a:latin typeface="Aptos"/>
              </a:rPr>
              <a:t>A local web app that returns up to five movie suggestions using content-based or rating-based methods.</a:t>
            </a:r>
            <a:endParaRPr sz="1300">
              <a:latin typeface="Apto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297680" y="146304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1B2A55"/>
          </a:solidFill>
          <a:ln w="12700">
            <a:solidFill>
              <a:srgbClr val="1B2A55"/>
            </a:solidFill>
            <a:prstDash val="solid"/>
          </a:ln>
        </p:spPr>
        <p:txBody>
          <a:bodyPr wrap="square"/>
          <a:p/>
        </p:txBody>
      </p:sp>
      <p:sp>
        <p:nvSpPr>
          <p:cNvPr id="8" name="Text 6"/>
          <p:cNvSpPr txBox="1"/>
          <p:nvPr/>
        </p:nvSpPr>
        <p:spPr>
          <a:xfrm>
            <a:off x="4572000" y="1691640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MEASURABLE TARGET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057400"/>
            <a:ext cx="29718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1200">
                <a:solidFill>
                  <a:schemeClr val="bg1">
                    <a:lumMod val="85000"/>
                  </a:schemeClr>
                </a:solidFill>
                <a:latin typeface="Aptos"/>
              </a:rPr>
              <a:t>Functional smoke tests passed for selected movies. No formal precision, recall, NDCG or accuracy benchmark has been measured yet.</a:t>
            </a:r>
            <a:endParaRPr sz="1200">
              <a:solidFill>
                <a:schemeClr val="bg1">
                  <a:lumMod val="85000"/>
                </a:schemeClr>
              </a:solidFill>
              <a:latin typeface="Apto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046720" y="146304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 wrap="square"/>
          <a:p/>
        </p:txBody>
      </p:sp>
      <p:sp>
        <p:nvSpPr>
          <p:cNvPr id="11" name="Text 9"/>
          <p:cNvSpPr txBox="1"/>
          <p:nvPr/>
        </p:nvSpPr>
        <p:spPr>
          <a:xfrm>
            <a:off x="8321040" y="1691640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A416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BEYOND THE LAB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2057400"/>
            <a:ext cx="29718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1200">
                <a:latin typeface="Aptos"/>
              </a:rPr>
              <a:t>A prototype for movie viewers and a foundation for later deployment; currently runs locally through Streamlit.</a:t>
            </a:r>
            <a:endParaRPr sz="1200">
              <a:latin typeface="Apto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11064240" cy="1920240"/>
          </a:xfrm>
          <a:prstGeom prst="roundRect">
            <a:avLst>
              <a:gd name="adj" fmla="val 3810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 wrap="square"/>
          <a:p/>
        </p:txBody>
      </p:sp>
      <p:sp>
        <p:nvSpPr>
          <p:cNvPr id="14" name="Text 12"/>
          <p:cNvSpPr txBox="1"/>
          <p:nvPr/>
        </p:nvSpPr>
        <p:spPr>
          <a:xfrm>
            <a:off x="868680" y="4160520"/>
            <a:ext cx="10424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480560"/>
            <a:ext cx="1042416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IN" sz="1200">
                <a:latin typeface="Aptos"/>
              </a:rPr>
              <a:t>MovieVerse</a:t>
            </a:r>
            <a:r>
              <a:rPr sz="1200">
                <a:latin typeface="Aptos"/>
              </a:rPr>
              <a:t> addresses movie discovery by providing two recommendation approaches over public movie metadata and rating data. The prototype demonstrates TF-IDF/cosine similarity and a simple collaborative baseline in one interface. Current limitations include sparse rating coverage, title matching and unmeasured recommendation quality. Future work can add a true hybrid ranker and evaluate Precision@K, Recall@K and NDCG.</a:t>
            </a:r>
            <a:endParaRPr sz="1200">
              <a:latin typeface="Aptos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900">
                <a:latin typeface="Aptos"/>
              </a:rPr>
              <a:t>Dept. of CSE  |  KLH Bachupally Campus</a:t>
            </a:r>
            <a:endParaRPr sz="900">
              <a:latin typeface="Aptos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12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References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1000">
                <a:latin typeface="Aptos"/>
              </a:rPr>
              <a:t>Selected research and technical sources used to frame the project. Confirm the cited papers against your final literature survey before submission.</a:t>
            </a:r>
            <a:endParaRPr sz="1000">
              <a:latin typeface="Apto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1064240" cy="3657600"/>
          </a:xfrm>
          <a:prstGeom prst="roundRect">
            <a:avLst>
              <a:gd name="adj" fmla="val 2000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 wrap="square"/>
          <a:p/>
        </p:txBody>
      </p:sp>
      <p:sp>
        <p:nvSpPr>
          <p:cNvPr id="6" name="Text 4"/>
          <p:cNvSpPr txBox="1"/>
          <p:nvPr/>
        </p:nvSpPr>
        <p:spPr>
          <a:xfrm>
            <a:off x="868680" y="1783080"/>
            <a:ext cx="10424160" cy="3246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altLang="en-US" sz="1200">
                <a:latin typeface="Aptos"/>
              </a:rPr>
              <a:t>[1] F. M. Harper and J. A. Konstan, “The MovieLens Datasets: History and Context,” *ACM Transactions on Interactive Intelligent Systems*, vol. 5, no. 4, 2015. doi: 10.1145/2827872.</a:t>
            </a:r>
            <a:endParaRPr lang="en-US" altLang="en-US" sz="1200">
              <a:latin typeface="Aptos"/>
            </a:endParaRPr>
          </a:p>
          <a:p>
            <a:endParaRPr lang="en-US" altLang="en-US" sz="1200">
              <a:latin typeface="Aptos"/>
            </a:endParaRPr>
          </a:p>
          <a:p>
            <a:r>
              <a:rPr lang="en-US" altLang="en-US" sz="1200">
                <a:latin typeface="Aptos"/>
              </a:rPr>
              <a:t>[2] B. Sarwar, G. Karypis, J. Konstan, and J. Riedl, “Item-Based Collaborative Filtering Recommendation Algorithms,” *Proceedings of the 10th International Conference on World Wide Web*, 2001, pp. 285–295. doi: 10.1145/371920.372071.</a:t>
            </a:r>
            <a:endParaRPr lang="en-US" altLang="en-US" sz="1200">
              <a:latin typeface="Aptos"/>
            </a:endParaRPr>
          </a:p>
          <a:p>
            <a:endParaRPr lang="en-US" altLang="en-US" sz="1200">
              <a:latin typeface="Aptos"/>
            </a:endParaRPr>
          </a:p>
          <a:p>
            <a:r>
              <a:rPr lang="en-US" altLang="en-US" sz="1200">
                <a:latin typeface="Aptos"/>
              </a:rPr>
              <a:t>[3] G. Salton and C. Buckley, “Term-Weighting Approaches in Automatic Text Retrieval,” *Information Processing &amp; Management*, vol. 24, no. 5, pp. 513–523, 1988. doi: 10.1016/0306-4573(88)90021-0.</a:t>
            </a:r>
            <a:endParaRPr lang="en-US" altLang="en-US" sz="1200">
              <a:latin typeface="Aptos"/>
            </a:endParaRPr>
          </a:p>
          <a:p>
            <a:endParaRPr lang="en-US" altLang="en-US" sz="1200">
              <a:latin typeface="Aptos"/>
            </a:endParaRPr>
          </a:p>
          <a:p>
            <a:r>
              <a:rPr lang="en-US" altLang="en-US" sz="1200">
                <a:latin typeface="Aptos"/>
              </a:rPr>
              <a:t>[4] C. C. Aggarwal, *Recommender Systems: The Textbook*. Springer, 2016. doi: 10.1007/978-3-319-29659-3.</a:t>
            </a:r>
            <a:endParaRPr lang="en-US" altLang="en-US" sz="1200">
              <a:latin typeface="Aptos"/>
            </a:endParaRPr>
          </a:p>
          <a:p>
            <a:endParaRPr lang="en-US" altLang="en-US" sz="1200">
              <a:latin typeface="Aptos"/>
            </a:endParaRPr>
          </a:p>
          <a:p>
            <a:r>
              <a:rPr lang="en-US" altLang="en-US" sz="1200">
                <a:latin typeface="Aptos"/>
              </a:rPr>
              <a:t>[5] Scikit-learn Developers, “TfidfVectorizer Documentation.” Available: https://scikit-learn.org/stable/modules/generated/sklearn.feature_extraction.text.TfidfVectorizer.html</a:t>
            </a:r>
            <a:endParaRPr lang="en-US" altLang="en-US" sz="1200">
              <a:latin typeface="Aptos"/>
            </a:endParaRPr>
          </a:p>
          <a:p>
            <a:endParaRPr lang="en-US" altLang="en-US" sz="1200">
              <a:latin typeface="Aptos"/>
            </a:endParaRPr>
          </a:p>
          <a:p>
            <a:r>
              <a:rPr lang="en-US" altLang="en-US" sz="1200">
                <a:latin typeface="Aptos"/>
              </a:rPr>
              <a:t>[6] Scikit-learn Developers, “Cosine Similarity Documentation.” Available: https://scikit-learn.org/stable/modules/generated/sklearn.metrics.pairwise.cosine_similarity.html</a:t>
            </a:r>
            <a:endParaRPr lang="en-US" altLang="en-US" sz="1200">
              <a:latin typeface="Aptos"/>
            </a:endParaRPr>
          </a:p>
          <a:p>
            <a:endParaRPr lang="en-US" altLang="en-US" sz="1200">
              <a:latin typeface="Aptos"/>
            </a:endParaRPr>
          </a:p>
          <a:p>
            <a:r>
              <a:rPr lang="en-US" altLang="en-US" sz="1200">
                <a:latin typeface="Aptos"/>
              </a:rPr>
              <a:t>[7] Streamlit, “Streamlit Documentation.” Available: https://docs.streamlit.io/</a:t>
            </a:r>
            <a:endParaRPr lang="en-US" altLang="en-US" sz="1200">
              <a:latin typeface="Apto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48640" y="544068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altLang="en-US" sz="900">
                <a:latin typeface="Aptos"/>
              </a:rPr>
              <a:t>These references cover the datasets, recommendation techniques, text processing methods, and software tools relevant to the CineMatch prototype. The system implements content-based filtering and collaborative filtering as separate recommendation approaches</a:t>
            </a:r>
            <a:r>
              <a:rPr lang="en-IN" altLang="en-US" sz="900">
                <a:latin typeface="Aptos"/>
              </a:rPr>
              <a:t>.</a:t>
            </a:r>
            <a:endParaRPr lang="en-IN" altLang="en-US" sz="900">
              <a:latin typeface="Apto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900">
                <a:latin typeface="Aptos"/>
              </a:rPr>
              <a:t>Dept. of CSE  |  KLH Bachupally Campus</a:t>
            </a:r>
            <a:endParaRPr sz="900">
              <a:latin typeface="Apto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1546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Questions &amp; Suggestions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22960" y="3977640"/>
            <a:ext cx="2926080" cy="0"/>
          </a:xfrm>
          <a:prstGeom prst="line">
            <a:avLst/>
          </a:prstGeom>
          <a:noFill/>
          <a:ln w="25400">
            <a:solidFill>
              <a:srgbClr val="2E3F6E"/>
            </a:solidFill>
            <a:prstDash val="solid"/>
          </a:ln>
        </p:spPr>
        <p:txBody>
          <a:bodyPr wrap="square"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10680</Words>
  <Application>WPS Presentation</Application>
  <PresentationFormat>On-screen Show (16:9)</PresentationFormat>
  <Paragraphs>481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9" baseType="lpstr">
      <vt:lpstr>Arial</vt:lpstr>
      <vt:lpstr>SimSun</vt:lpstr>
      <vt:lpstr>Wingdings</vt:lpstr>
      <vt:lpstr>Calibri</vt:lpstr>
      <vt:lpstr>Calibri</vt:lpstr>
      <vt:lpstr>Calibri</vt:lpstr>
      <vt:lpstr>Aptos</vt:lpstr>
      <vt:lpstr>Segoe UI</vt:lpstr>
      <vt:lpstr>Cambria</vt:lpstr>
      <vt:lpstr>Cambria</vt:lpstr>
      <vt:lpstr>Cambria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Minor Project - Model Review Presentation</dc:title>
  <dc:creator>Dept. of CSE, KLH Bachupally</dc:creator>
  <dc:subject>PptxGenJS Presentation</dc:subject>
  <cp:lastModifiedBy>Yasasri</cp:lastModifiedBy>
  <cp:revision>6</cp:revision>
  <dcterms:created xsi:type="dcterms:W3CDTF">2026-09-16T05:47:00Z</dcterms:created>
  <dcterms:modified xsi:type="dcterms:W3CDTF">2026-10-13T07:41:55Z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A581093E9F194FEA994CFA5311CE96D7_12</vt:lpwstr>
  </property>
</Properties>
</file>